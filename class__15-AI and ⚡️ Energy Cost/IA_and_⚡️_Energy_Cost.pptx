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1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charts/chart2.xml" ContentType="application/vnd.openxmlformats-officedocument.drawingml.chart+xml"/>
  <Override PartName="/ppt/notesSlides/notesSlide61.xml" ContentType="application/vnd.openxmlformats-officedocument.presentationml.notesSlide+xml"/>
  <Override PartName="/ppt/charts/chart3.xml" ContentType="application/vnd.openxmlformats-officedocument.drawingml.chart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charts/chart4.xml" ContentType="application/vnd.openxmlformats-officedocument.drawingml.chart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1"/>
  </p:notesMasterIdLst>
  <p:sldIdLst>
    <p:sldId id="256" r:id="rId2"/>
    <p:sldId id="257" r:id="rId3"/>
    <p:sldId id="375" r:id="rId4"/>
    <p:sldId id="258" r:id="rId5"/>
    <p:sldId id="259" r:id="rId6"/>
    <p:sldId id="260" r:id="rId7"/>
    <p:sldId id="382" r:id="rId8"/>
    <p:sldId id="383" r:id="rId9"/>
    <p:sldId id="265" r:id="rId10"/>
    <p:sldId id="384" r:id="rId11"/>
    <p:sldId id="385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389" r:id="rId21"/>
    <p:sldId id="277" r:id="rId22"/>
    <p:sldId id="370" r:id="rId23"/>
    <p:sldId id="267" r:id="rId24"/>
    <p:sldId id="388" r:id="rId25"/>
    <p:sldId id="387" r:id="rId26"/>
    <p:sldId id="386" r:id="rId27"/>
    <p:sldId id="279" r:id="rId28"/>
    <p:sldId id="390" r:id="rId29"/>
    <p:sldId id="392" r:id="rId30"/>
    <p:sldId id="393" r:id="rId31"/>
    <p:sldId id="261" r:id="rId32"/>
    <p:sldId id="262" r:id="rId33"/>
    <p:sldId id="293" r:id="rId34"/>
    <p:sldId id="394" r:id="rId35"/>
    <p:sldId id="395" r:id="rId36"/>
    <p:sldId id="263" r:id="rId37"/>
    <p:sldId id="378" r:id="rId38"/>
    <p:sldId id="379" r:id="rId39"/>
    <p:sldId id="377" r:id="rId40"/>
    <p:sldId id="306" r:id="rId41"/>
    <p:sldId id="372" r:id="rId42"/>
    <p:sldId id="373" r:id="rId43"/>
    <p:sldId id="374" r:id="rId44"/>
    <p:sldId id="371" r:id="rId45"/>
    <p:sldId id="376" r:id="rId46"/>
    <p:sldId id="307" r:id="rId47"/>
    <p:sldId id="308" r:id="rId48"/>
    <p:sldId id="309" r:id="rId49"/>
    <p:sldId id="310" r:id="rId50"/>
    <p:sldId id="311" r:id="rId51"/>
    <p:sldId id="312" r:id="rId52"/>
    <p:sldId id="313" r:id="rId53"/>
    <p:sldId id="314" r:id="rId54"/>
    <p:sldId id="315" r:id="rId55"/>
    <p:sldId id="316" r:id="rId56"/>
    <p:sldId id="317" r:id="rId57"/>
    <p:sldId id="318" r:id="rId58"/>
    <p:sldId id="319" r:id="rId59"/>
    <p:sldId id="321" r:id="rId60"/>
    <p:sldId id="322" r:id="rId61"/>
    <p:sldId id="323" r:id="rId62"/>
    <p:sldId id="324" r:id="rId63"/>
    <p:sldId id="325" r:id="rId64"/>
    <p:sldId id="326" r:id="rId65"/>
    <p:sldId id="327" r:id="rId66"/>
    <p:sldId id="328" r:id="rId67"/>
    <p:sldId id="329" r:id="rId68"/>
    <p:sldId id="330" r:id="rId69"/>
    <p:sldId id="331" r:id="rId70"/>
    <p:sldId id="332" r:id="rId71"/>
    <p:sldId id="333" r:id="rId72"/>
    <p:sldId id="397" r:id="rId73"/>
    <p:sldId id="398" r:id="rId74"/>
    <p:sldId id="399" r:id="rId75"/>
    <p:sldId id="400" r:id="rId76"/>
    <p:sldId id="401" r:id="rId77"/>
    <p:sldId id="402" r:id="rId78"/>
    <p:sldId id="403" r:id="rId79"/>
    <p:sldId id="404" r:id="rId80"/>
    <p:sldId id="405" r:id="rId81"/>
    <p:sldId id="406" r:id="rId82"/>
    <p:sldId id="407" r:id="rId83"/>
    <p:sldId id="408" r:id="rId84"/>
    <p:sldId id="409" r:id="rId85"/>
    <p:sldId id="410" r:id="rId86"/>
    <p:sldId id="411" r:id="rId87"/>
    <p:sldId id="359" r:id="rId88"/>
    <p:sldId id="360" r:id="rId89"/>
    <p:sldId id="361" r:id="rId90"/>
    <p:sldId id="380" r:id="rId91"/>
    <p:sldId id="381" r:id="rId92"/>
    <p:sldId id="362" r:id="rId93"/>
    <p:sldId id="363" r:id="rId94"/>
    <p:sldId id="364" r:id="rId95"/>
    <p:sldId id="365" r:id="rId96"/>
    <p:sldId id="366" r:id="rId97"/>
    <p:sldId id="367" r:id="rId98"/>
    <p:sldId id="368" r:id="rId99"/>
    <p:sldId id="396" r:id="rId100"/>
  </p:sldIdLst>
  <p:sldSz cx="9144000" cy="5143500" type="screen16x9"/>
  <p:notesSz cx="7104063" cy="102346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4C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38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Demanda típica (residencial)</c:v>
                </c:pt>
              </c:strCache>
            </c:strRef>
          </c:tx>
          <c:spPr>
            <a:ln w="38100" cap="flat">
              <a:solidFill>
                <a:srgbClr val="0E9F8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E9F8E"/>
              </a:solidFill>
              <a:ln w="9525" cap="flat">
                <a:solidFill>
                  <a:srgbClr val="0E9F8E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0h</c:v>
                </c:pt>
                <c:pt idx="1">
                  <c:v>4h</c:v>
                </c:pt>
                <c:pt idx="2">
                  <c:v>8h</c:v>
                </c:pt>
                <c:pt idx="3">
                  <c:v>12h</c:v>
                </c:pt>
                <c:pt idx="4">
                  <c:v>16h</c:v>
                </c:pt>
                <c:pt idx="5">
                  <c:v>20h</c:v>
                </c:pt>
                <c:pt idx="6">
                  <c:v>24h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75</c:v>
                </c:pt>
                <c:pt idx="1">
                  <c:v>45</c:v>
                </c:pt>
                <c:pt idx="2">
                  <c:v>60</c:v>
                </c:pt>
                <c:pt idx="3">
                  <c:v>60</c:v>
                </c:pt>
                <c:pt idx="4">
                  <c:v>70</c:v>
                </c:pt>
                <c:pt idx="5">
                  <c:v>95</c:v>
                </c:pt>
                <c:pt idx="6">
                  <c:v>75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35D-4C9D-82AF-16524CF686F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Carga de IA (treino)</c:v>
                </c:pt>
              </c:strCache>
            </c:strRef>
          </c:tx>
          <c:spPr>
            <a:ln w="3810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0h</c:v>
                </c:pt>
                <c:pt idx="1">
                  <c:v>4h</c:v>
                </c:pt>
                <c:pt idx="2">
                  <c:v>8h</c:v>
                </c:pt>
                <c:pt idx="3">
                  <c:v>12h</c:v>
                </c:pt>
                <c:pt idx="4">
                  <c:v>16h</c:v>
                </c:pt>
                <c:pt idx="5">
                  <c:v>20h</c:v>
                </c:pt>
                <c:pt idx="6">
                  <c:v>24h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90</c:v>
                </c:pt>
                <c:pt idx="1">
                  <c:v>90</c:v>
                </c:pt>
                <c:pt idx="2">
                  <c:v>90</c:v>
                </c:pt>
                <c:pt idx="3">
                  <c:v>90</c:v>
                </c:pt>
                <c:pt idx="4">
                  <c:v>90</c:v>
                </c:pt>
                <c:pt idx="5">
                  <c:v>92</c:v>
                </c:pt>
                <c:pt idx="6">
                  <c:v>90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D35D-4C9D-82AF-16524CF686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TWh/ano (EUA)</c:v>
                </c:pt>
              </c:strCache>
            </c:strRef>
          </c:tx>
          <c:spPr>
            <a:ln w="38100" cap="flat">
              <a:solidFill>
                <a:srgbClr val="0E9F8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E9F8E"/>
              </a:solidFill>
              <a:ln w="9525" cap="flat">
                <a:solidFill>
                  <a:srgbClr val="0E9F8E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2014</c:v>
                </c:pt>
                <c:pt idx="1">
                  <c:v>2018</c:v>
                </c:pt>
                <c:pt idx="2">
                  <c:v>2023</c:v>
                </c:pt>
                <c:pt idx="3">
                  <c:v>2028 (méd.)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76</c:v>
                </c:pt>
                <c:pt idx="2">
                  <c:v>176</c:v>
                </c:pt>
                <c:pt idx="3">
                  <c:v>450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A95-4AA3-B321-B64FC41308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GW projetados</c:v>
                </c:pt>
              </c:strCache>
            </c:strRef>
          </c:tx>
          <c:spPr>
            <a:solidFill>
              <a:srgbClr val="0E9F8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FFF-4639-8DA6-262701237991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FFF-4639-8DA6-262701237991}"/>
              </c:ext>
            </c:extLst>
          </c:dPt>
          <c:dPt>
            <c:idx val="2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FFF-4639-8DA6-262701237991}"/>
              </c:ext>
            </c:extLst>
          </c:dPt>
          <c:dPt>
            <c:idx val="3"/>
            <c:invertIfNegative val="0"/>
            <c:bubble3D val="0"/>
            <c:spPr>
              <a:solidFill>
                <a:srgbClr val="5EEA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FFF-4639-8DA6-26270123799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E293B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Goldman'27
(EUA)</c:v>
                </c:pt>
                <c:pt idx="1">
                  <c:v>RAND'27
(global)</c:v>
                </c:pt>
                <c:pt idx="2">
                  <c:v>Deloitte'35
(EUA)</c:v>
                </c:pt>
                <c:pt idx="3">
                  <c:v>RAND'30
(global)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</c:v>
                </c:pt>
                <c:pt idx="1">
                  <c:v>68</c:v>
                </c:pt>
                <c:pt idx="2">
                  <c:v>123</c:v>
                </c:pt>
                <c:pt idx="3">
                  <c:v>327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FFF-4639-8DA6-26270123799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TWh/ano (data centers)</c:v>
                </c:pt>
              </c:strCache>
            </c:strRef>
          </c:tx>
          <c:spPr>
            <a:solidFill>
              <a:srgbClr val="0E9F8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AC1-4453-8161-01DBD46828F2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AC1-4453-8161-01DBD46828F2}"/>
              </c:ext>
            </c:extLst>
          </c:dPt>
          <c:dPt>
            <c:idx val="2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AC1-4453-8161-01DBD46828F2}"/>
              </c:ext>
            </c:extLst>
          </c:dPt>
          <c:dPt>
            <c:idx val="3"/>
            <c:invertIfNegative val="0"/>
            <c:bubble3D val="0"/>
            <c:spPr>
              <a:solidFill>
                <a:srgbClr val="5EEA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AC1-4453-8161-01DBD46828F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E293B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2024 (real)</c:v>
                </c:pt>
                <c:pt idx="1">
                  <c:v>2035 Headwinds</c:v>
                </c:pt>
                <c:pt idx="2">
                  <c:v>2035 Base</c:v>
                </c:pt>
                <c:pt idx="3">
                  <c:v>2035 Lift-Off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415</c:v>
                </c:pt>
                <c:pt idx="1">
                  <c:v>700</c:v>
                </c:pt>
                <c:pt idx="2">
                  <c:v>1200</c:v>
                </c:pt>
                <c:pt idx="3">
                  <c:v>1700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AC1-4453-8161-01DBD46828F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4902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Slide de abertura. Apresente o objetivo da aula: analisar, com rigor quantitativo, como a IA moderna consome energia — começando pela computação dos modelos e chegando aos impactos sobre a rede elétrica, os data centers, as emissões de carbono e o planejamento energético. Destaque que cada afirmação numérica nesta apresentação é ancorada em fonte (rodapé de cada slide). Pré-requisito dos alunos: noções básicas de machine learning (o que é treinar um modelo, redes neurais, gradiente). Duração estimada: aula longa, possivelmente dividida em dois encontros.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Apresente o roteiro. A aula vai da camada computacional (Partes 2-3) à infraestrutura (Parte 4), ao impacto dos modelos (Parte 5), aos efeitos sistêmicos (Partes 6-7), às soluções (Parte 8) e ao futuro/conclusões (Partes 9-10). Avise que cada slide traz a referência no rodapé e que há um caderno de apoio com a bibliografia ABNT completa, banco de perguntas para discussão e 20 questões de revisão. Sugira pontos de pausa: após a Parte 5 (metade) e ao fim.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793E0-EE25-85C5-B250-B2A8ADB5E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5761D6-81E0-ADAC-488D-61FB7C55E6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462ED6-96F4-9F01-FE3A-51F4EF0510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Apresente o roteiro. A aula vai da camada computacional (Partes 2-3) à infraestrutura (Parte 4), ao impacto dos modelos (Parte 5), aos efeitos sistêmicos (Partes 6-7), às soluções (Parte 8) e ao futuro/conclusões (Partes 9-10). Avise que cada slide traz a referência no rodapé e que há um caderno de apoio com a bibliografia ABNT completa, banco de perguntas para discussão e 20 questões de revisão. Sugira pontos de pausa: após a Parte 5 (metade) e ao fim.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881CEE-2C37-E51F-1F9A-A35BB50E80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9697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Slide divisor da Parte 1. Objetivo da seção: situar o aluno no panorama histórico e dar a dimensão do fenômeno antes de entrar nos detalhes técnicos. A mensagem-chave é que a IA passou de curiosidade acadêmica a um vetor material de demanda elétrica em menos de uma década.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Use este slide para estabelecer o mapa mental da aula: computação → infraestrutura → sistema. O 'fio condutor' (escalonamento → FLOPs → energia) será repetido várias vezes. Os números do cartão à direita vêm da IEA (Energy and AI, 2025): data centers consumiram cerca de 415 TWh em 2024, ~1,5% da eletricidade global, com projeção de mais que dobrar para ~945 TWh em 2030 no Cenário Base. Enfatize que 1,5% parece pouco, mas a taxa de crescimento (≈12% ao ano desde 2017, &gt;4× a média da eletricidade) é o que preocupa planejadores.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Conte a história em dois tempos. Primeiro, a IA simbólica (regras lógicas), que dominou até os anos 1980 e sofreu dois 'invernos' por excesso de promessa e falta de resultados. Segundo, a virada estatística: com muitos dados rotulados (ImageNet) e hardware paralelo (GPUs), o aprendizado profundo passou a superar abordagens manuais. O marco de 2012 (AlexNet) é simbólico porque mostrou que GPUs gráficas podiam treinar redes grandes. Em 2017 o Transformer destravou a escala. A mensagem energética: a partir de 2012, o progresso passou a depender criticamente de computação — e portanto de eletricidade.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AB020-F100-B72C-66EC-5AFE5FA9F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ADC3A9-0564-F1AB-2D04-51EB8C6595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A875E6-3112-3243-4942-DC64BAAE9C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Conte a história em dois tempos. Primeiro, a IA simbólica (regras lógicas), que dominou até os anos 1980 e sofreu dois 'invernos' por excesso de promessa e falta de resultados. Segundo, a virada estatística: com muitos dados rotulados (ImageNet) e hardware paralelo (GPUs), o aprendizado profundo passou a superar abordagens manuais. O marco de 2012 (AlexNet) é simbólico porque mostrou que GPUs gráficas podiam treinar redes grandes. Em 2017 o Transformer destravou a escala. A mensagem energética: a partir de 2012, o progresso passou a depender criticamente de computação — e portanto de eletricidade.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F67C3-1057-34CE-80A1-1B67D2832D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8748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8D2D8-8C6D-3D00-74D0-6B907E0EA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29FA85-EEEB-FB2B-2814-02DEB8F2A6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3D8D3E-BEB3-D378-00EE-3DF82A3781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Conte a história em dois tempos. Primeiro, a IA simbólica (regras lógicas), que dominou até os anos 1980 e sofreu dois 'invernos' por excesso de promessa e falta de resultados. Segundo, a virada estatística: com muitos dados rotulados (ImageNet) e hardware paralelo (GPUs), o aprendizado profundo passou a superar abordagens manuais. O marco de 2012 (AlexNet) é simbólico porque mostrou que GPUs gráficas podiam treinar redes grandes. Em 2017 o Transformer destravou a escala. A mensagem energética: a partir de 2012, o progresso passou a depender criticamente de computação — e portanto de eletricidade.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B56C7-66D4-C280-1EDB-04F954605B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9526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O hardware é o gargalo material da IA. A NVIDIA enviou 3,76 milhões de GPUs de data center em 2023 (de 2,64 mi em 2022), com ~98% de participação de mercado (Tom's Hardware/DataCenterDynamics, 2024). Só o H100 representou ~1,5 milhão de unidades em 2023, projetando-se ~2 milhões em 2024, gerando estimadas US$ 50 bilhões de receita. Prazos de entrega de 9-12 meses revelam que a demanda excede a oferta. Conexão energética (RAND, 2025): a potência dos data centers de IA cresceu ~10× em 3 anos (0,4 GW em 2020 → 4,3 GW em 2023), acompanhando os embarques de chips. Conceito: a expansão da IA é limitada simultaneamente por chips e por energia disponível na rede.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C5C81-0C29-7064-6E53-A14F4ED60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5554C8-6C20-345A-A429-4C51B2F22E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85B920-44C1-BF45-954D-6510E9E42C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O hardware é o gargalo material da IA. A NVIDIA enviou 3,76 milhões de GPUs de data center em 2023 (de 2,64 mi em 2022), com ~98% de participação de mercado (Tom's Hardware/DataCenterDynamics, 2024). Só o H100 representou ~1,5 milhão de unidades em 2023, projetando-se ~2 milhões em 2024, gerando estimadas US$ 50 bilhões de receita. Prazos de entrega de 9-12 meses revelam que a demanda excede a oferta. Conexão energética (RAND, 2025): a potência dos data centers de IA cresceu ~10× em 3 anos (0,4 GW em 2020 → 4,3 GW em 2023), acompanhando os embarques de chips. Conceito: a expansão da IA é limitada simultaneamente por chips e por energia disponível na rede.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BA3A43-9D6C-5588-58E2-AE54B082BF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0322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80475-E5DD-E949-48FA-9C670A754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6192D0-E756-64A6-8AB0-F7AE2D79C5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88EB8C-4DBB-F402-0EAE-7A24B1E335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O hardware é o gargalo material da IA. A NVIDIA enviou 3,76 milhões de GPUs de data center em 2023 (de 2,64 mi em 2022), com ~98% de participação de mercado (Tom's Hardware/DataCenterDynamics, 2024). Só o H100 representou ~1,5 milhão de unidades em 2023, projetando-se ~2 milhões em 2024, gerando estimadas US$ 50 bilhões de receita. Prazos de entrega de 9-12 meses revelam que a demanda excede a oferta. Conexão energética (RAND, 2025): a potência dos data centers de IA cresceu ~10× em 3 anos (0,4 GW em 2020 → 4,3 GW em 2023), acompanhando os embarques de chips. Conceito: a expansão da IA é limitada simultaneamente por chips e por energia disponível na rede.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7FABFB-D38D-07B5-59D1-658C500157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0019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Divisor da Parte 2. Esta parte substitui os fundamentos de machine learning (que vocês já dominam) por um conjunto enxuto de conceitos de ENERGIA E SISTEMAS ELÉTRICOS — o vocabulário necessário para entender o resto da aula, cujo foco é o impacto da IA na rede. Quem confunde potência com energia, ou capacidade (GW) com consumo (TWh), interpreta mal todas as manchetes do setor. Vá devagar nos dois primeiros slides: são a base de tudo.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Este é o slide mais importante da Parte 2. A distinção potência × energia é a fonte de quase todo mal-entendido no setor. POTÊNCIA (Watt) é a taxa instantânea — quão rápido a energia é usada num dado momento. ENERGIA (Watt-hora) é o acumulado ao longo do tempo. Use a analogia do carro: a potência é a velocidade (km/h) no velocímetro agora; a energia é a distância total no hodômetro. Ou a torneira: potência é a vazão (litros por segundo); energia é o total de litros no balde. A relação: Energia = Potência × Tempo. Exemplo concreto e memorável: uma GPU de 1.000 W ligada por 1 hora consome 1.000 Wh = 1 kWh. Sua conta de luz cobra kWh (energia), não watts. Peça aos alunos que guardem: toda vez que virem 'GW' pensem em POTÊNCIA/capacidade, e toda vez que virem 'TWh' pensem em ENERGIA/consumo. Voltaremos a isso no slide de capacidade vs. consumo.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Calibre a intuição de POTÊNCIA com referências do cotidiano e do setor. A escada multiplica por 1.000 a cada degrau: 1 W (LED) → 1 kW (micro-ondas) → 1 MW (pequena fábrica, ~200 casas no pico) → 1 GW (um reator nuclear típico, uma cidade média). Agora ancore a IA: um data center de IA de médio porte demanda ~100 MW; um campus de fronteira (Stargate, xAI Colossus) demanda 1 a 5 GW — ou seja, a potência de vários reatores nucleares concentrada em um ponto. É por isso que a conexão desses campi à rede é um problema de engenharia de transmissão, não de distribuição. Reforce: GW é sempre POTÊNCIA (capacidade). Quando a manchete diz 'data center de 5 GW', está falando da potência de pico que a rede precisa entregar continuamente.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Agora a escada de ENERGIA, com as mesmas multiplicações por 1.000, ancorada na IA. 1 Wh ≈ uma consulta de texto à IA (~0,3 Wh). 1 kWh ≈ lavar uma carga de roupa; uma residência consome ~150-300 kWh/mês. 1 MWh ≈ uma casa por ~5 meses. 1 GWh: o treino do GPT-3 consumiu ~1,3 GWh (1.287 MWh). 1 TWh = 1 bilhão de kWh: os data centers do mundo consumiram ~415 TWh em 2024 (IEA). Faça a turma perceber a amplitude: da consulta individual (Wh) ao consumo planetário (TWh) são 12 ordens de magnitude. A mensagem central que conecta as duas escadas: capacidade (GW) e consumo (TWh) são coisas diferentes — e confundi-las distorce as projeções, como veremos no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Mostre que uma única fórmula — Energia = Potência × Tempo — permite estimar tudo. Exemplos resolvidos (faça na lousa): (1) uma GPU de 1.000 W ligada 24 h consome 24 kWh/dia; (2) um data center de 100 MW operando 24 h consome 2,4 GWh/dia; (3) um bilhão de consultas/dia a 0,3 Wh dá 300 MWh/dia, ou ~110 GWh/ano. O caminho inverso é igualmente útil: dividir o consumo anual pelas 8.760 horas do ano dá a potência média. Ex.: os 415 TWh/ano dos data centers globais ÷ 8.760 h ≈ 47 GW de potência média contínua. Essa conversão entre TWh/ano e GW é o que conecta as duas escadas e é essencial para ler os relatórios do setor (que misturam as duas unidades). Incentive os alunos a praticar essas conversões — elas reaparecem em toda 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Este é o conceito que faz a diferença entre entender e não entender as projeções do setor. CAPACIDADE (GW) é a potência máxima instalada — o tamanho do cano. CONSUMO (TWh) é a água que efetivamente passa. O elo entre os dois é o FATOR DE CAPACIDADE = energia real ÷ (capacidade × tempo). Aqui está o ponto crucial para a rede: um data center tem fator de capacidade ALTO (~70-90%, Nøland et al. 2024) porque opera quase ininterruptamente, dia e noite, com pouca variação. Já a energia solar tem fator BAIXO (~15-25%, só gera com sol) e a eólica ~25-45%. Consequência: para suprir 1 GW de data center (que consome quase 24/7), é preciso muito mais do que 1 GW de capacidade solar — é preciso solar + armazenamento + energia firme. Isso explica por que a IA pressiona especialmente por geração firme/de base (nuclear, gás) e não só por renováveis. Esse conceito reaparece nas Partes 6, 7 e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Apresente o vocabulário de carga e o perfil específico da IA. DEMANDA (ou carga) é a potência exigida da rede a cada instante. A CURVA DE CARGA mostra como ela varia ao longo do dia — tipicamente baixa de madrugada, com picos pela manhã e à noite (demanda residencial/comercial). O PICO DE DEMANDA é o momento de maior exigência, e é ele que dimensiona toda a infraestrutura (a rede é construída para o pior caso, não para a média). O gráfico contrasta: a demanda típica oscila (curva), enquanto a carga de IA — especialmente em treino — é quase constante e alta (linha reta no topo). Isso tem duas faces: (1) ruim — a IA adiciona carga de base que não 'folga' nos vales, elevando o consumo total e o pico; (2) potencialmente bom — sendo previsível e parcialmente adiável, pode ser flexibilizada para ajudar a rede (Parte 6). Note também que a inferência tem perfil mais oscilante que o treino. Este conceito de perfil de carga é central para os impactos na rede.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Dê o mapa mínimo da rede elétrica, pois a aula trata de impactos sobre ela. Três estágios: (1) GERAÇÃO — usinas de diferentes fontes (hidrelétrica, gás, nuclear, solar, eólica) produzem eletricidade; (2) TRANSMISSÃO — linhas de altíssima tensão (115-765 kV) transportam grandes blocos de energia por longas distâncias com baixas perdas; (3) DISTRIBUIÇÃO — a tensão é reduzida em subestações e a energia chega a residências e comércios. Onde a IA se conecta importa: data centers pequenos entram na distribuição (como um prédio grande), mas os data centers de IA de &gt;100 MW conectam-se diretamente à TRANSMISSÃO, como uma grande indústria ou uma cidade. Conectar uma carga dessas exige novas subestações e, muitas vezes, novas linhas de transmissão — cuja construção leva anos e é o principal gargalo (Parte 6). No Brasil, esse papel é coordenado pelo ONS no Sistema Interligado Nacional. Esse mapa prepara toda a discussão de transmissão, distribuição e confiabilidade.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B6CAA-938D-A1F8-652D-2F68D0B7E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85FD3D-91D4-1573-491D-6882316483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327C60-D96E-8D72-60A0-D6F7D68AAB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Feche os conceitos conectando energia a impacto, com dois 'multiplicadores' que reaparecerão. PRIMEIRO multiplicador — PUE (Power Usage Effectiveness) = energia total da instalação ÷ energia de TI. Ele converte o consumo dos chips no consumo total da tomada: com PUE 1,5, cada 1 kWh de computação custa 1,5 kWh de energia comprada (os 0,5 extras são refrigeração e perdas). Detalharemos na Parte 4. SEGUNDO multiplicador — a INTENSIDADE DE CARBONO (gCO₂/kWh) da matriz elétrica: Emissões = energia × intensidade. A mesma carga de IA emite ~19× mais CO₂ numa rede a carvão (~700 g/kWh) do que numa rede nuclear/renovável (~40 g/kWh). Há ainda a intensidade hídrica (~4,35 L/kWh nos EUA, incluindo a geração). Mensagem-chave: o impacto da IA = trabalho computacional × PUE × intensidade da matriz. Cada fator é uma alavanca — e a localização (que define a intensidade) é tão poderosa quanto a eficiência. Isso prepara as Partes 4, 5 e 7.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1303BA-0180-CE3B-0A4F-CED78659B9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4191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Feche os conceitos conectando energia a impacto, com dois 'multiplicadores' que reaparecerão. PRIMEIRO multiplicador — PUE (Power Usage Effectiveness) = energia total da instalação ÷ energia de TI. Ele converte o consumo dos chips no consumo total da tomada: com PUE 1,5, cada 1 kWh de computação custa 1,5 kWh de energia comprada (os 0,5 extras são refrigeração e perdas). Detalharemos na Parte 4. SEGUNDO multiplicador — a INTENSIDADE DE CARBONO (gCO₂/kWh) da matriz elétrica: Emissões = energia × intensidade. A mesma carga de IA emite ~19× mais CO₂ numa rede a carvão (~700 g/kWh) do que numa rede nuclear/renovável (~40 g/kWh). Há ainda a intensidade hídrica (~4,35 L/kWh nos EUA, incluindo a geração). Mensagem-chave: o impacto da IA = trabalho computacional × PUE × intensidade da matriz. Cada fator é uma alavanca — e a localização (que define a intensidade) é tão poderosa quanto a eficiência. Isso prepara as Partes 4, 5 e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FDCD1-A345-FCEA-DD37-56133D29F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4B8249-66B0-9D79-1A5E-AE6EE16B3A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EC74CF-9A24-D7FA-09D5-6760788993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Use este slide para estabelecer o mapa mental da aula: computação → infraestrutura → sistema. O 'fio condutor' (escalonamento → FLOPs → energia) será repetido várias vezes. Os números do cartão à direita vêm da IEA (Energy and AI, 2025): data centers consumiram cerca de 415 TWh em 2024, ~1,5% da eletricidade global, com projeção de mais que dobrar para ~945 TWh em 2030 no Cenário Base. Enfatize que 1,5% parece pouco, mas a taxa de crescimento (≈12% ao ano desde 2017, &gt;4× a média da eletricidade) é o que preocupa planejadores.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544D6-AE4E-4FD9-3D9B-4D68C707B9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3727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Encerre a Parte 1 justificando a relevância. (1) IEA: data centers responderão por ~10% do crescimento da demanda elétrica global e até ~50% do crescimento nos EUA até 2030. (2) LBNL (2024): nos EUA, data centers já consumiram 176 TWh em 2023 = 4,4% da eletricidade nacional, mais que dobrando desde 2017. (3) UNU-INWEH (2026): ~189 Mt CO₂e em 2025. (4) Deloitte (2025): projeção dramática de crescimento de 30× na demanda de IA dos EUA, de 4 GW (2024) para 123 GW (2035). (5) IEA: ~20% dos projetos de data center correm risco de atraso por gargalos de conexão à rede. Mensagem: o tema cruza engenharia elétrica, ciência de dados, economia e política — e os números têm incerteza, que trataremos honestamente.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80810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76712-10FC-E483-6FD3-C6457942C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558F66-7596-424C-88B4-56FFAE9F34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B08A07-45B1-EAFD-2ECE-023360E5E8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Encerre a Parte 1 justificando a relevância. (1) IEA: data centers responderão por ~10% do crescimento da demanda elétrica global e até ~50% do crescimento nos EUA até 2030. (2) LBNL (2024): nos EUA, data centers já consumiram 176 TWh em 2023 = 4,4% da eletricidade nacional, mais que dobrando desde 2017. (3) UNU-INWEH (2026): ~189 Mt CO₂e em 2025. (4) Deloitte (2025): projeção dramática de crescimento de 30× na demanda de IA dos EUA, de 4 GW (2024) para 123 GW (2035). (5) IEA: ~20% dos projetos de data center correm risco de atraso por gargalos de conexão à rede. Mensagem: o tema cruza engenharia elétrica, ciência de dados, economia e política — e os números têm incerteza, que trataremos honestamente.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E9E004-97AD-8FAC-3A6F-21143C37CB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0220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06E45-E9C5-07AC-BC8C-8B1FACFFF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7FDED9-2669-C331-6144-E194562359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286A59-9F95-11CE-E4F6-7645242CD1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Encerre a Parte 1 justificando a relevância. (1) IEA: data centers responderão por ~10% do crescimento da demanda elétrica global e até ~50% do crescimento nos EUA até 2030. (2) LBNL (2024): nos EUA, data centers já consumiram 176 TWh em 2023 = 4,4% da eletricidade nacional, mais que dobrando desde 2017. (3) UNU-INWEH (2026): ~189 Mt CO₂e em 2025. (4) Deloitte (2025): projeção dramática de crescimento de 30× na demanda de IA dos EUA, de 4 GW (2024) para 123 GW (2035). (5) IEA: ~20% dos projetos de data center correm risco de atraso por gargalos de conexão à rede. Mensagem: o tema cruza engenharia elétrica, ciência de dados, economia e política — e os números têm incerteza, que trataremos honestamente.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E133A-70AF-A433-6E1D-5011FF392B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8429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AC0E4-2896-F7D6-CEFA-BDB133C10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1A58F1-C44F-0272-0741-E226E7038A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06A33E-981F-F98C-414F-60CE3FACF6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Encerre a Parte 1 justificando a relevância. (1) IEA: data centers responderão por ~10% do crescimento da demanda elétrica global e até ~50% do crescimento nos EUA até 2030. (2) LBNL (2024): nos EUA, data centers já consumiram 176 TWh em 2023 = 4,4% da eletricidade nacional, mais que dobrando desde 2017. (3) UNU-INWEH (2026): ~189 Mt CO₂e em 2025. (4) Deloitte (2025): projeção dramática de crescimento de 30× na demanda de IA dos EUA, de 4 GW (2024) para 123 GW (2035). (5) IEA: ~20% dos projetos de data center correm risco de atraso por gargalos de conexão à rede. Mensagem: o tema cruza engenharia elétrica, ciência de dados, economia e política — e os números têm incerteza, que trataremos honestamente.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CA70EA-67C0-BC75-E5FD-6DEFCAD726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66416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Divisor da Parte 3. Aqui abrimos o servidor e o data center para responder, watt a watt, de onde vem o consumo. É a parte mais 'engenharia' da aula. Conceitos novos (TDP, FLOPs/W, PUE parcial) serão definidos antes do uso.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Divisor da Parte 4. Subimos do servidor (Parte 3) para o data center completo. Foco em arquitetura física, sistemas de suporte e nas três métricas que definem a eficiência de uma instalação: PUE (energia), WUE (água) e CUE (carbono).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2F22B-31C1-BE4A-0AC4-E9F9A6B58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519E6A-900F-2338-094D-91AFD354CA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681DCB-8454-F35C-6DDD-FDF6F750FF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Três casos complementares. (1) IRLANDA — concentração nacional: data centers já consomem 21% da eletricidade do país (2023), com projeção de 30% até 2030 (Lo Schiavo, 2025). É o caso extremo de como a IA pode dominar a matriz de um país pequeno, levando a moratórias e tensões regulatórias. (2) xAI COLOSSUS — escala de cluster: 100.000 GPUs, ~150 MW, construído em Memphis em tempo recorde, ilustrando a velocidade da expansão (RAND, 2025). (3) STARGATE — ambição futura: anúncio de US$ 500 bilhões para até 10 data centers de ~5 GW cada, cada um consumindo mais que estados americanos inteiros (MIT Tech Review, 2025). Esses casos dão escala humana aos números e mostram três faces do fenômeno: saturação nacional, velocidade de construção e magnitude dos planos. Transição para a Parte 5: quanto de energia cada uso real de IA consome.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2257B7-0133-CA8D-CDF2-4F6A5F118F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55057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28EF0-788F-CE9C-1F75-93944F915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172295-1A13-B997-C95B-5EC97393AF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19ED8E-31E8-D14C-B6C4-E91FC0EA2F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Três casos complementares. (1) IRLANDA — concentração nacional: data centers já consomem 21% da eletricidade do país (2023), com projeção de 30% até 2030 (Lo Schiavo, 2025). É o caso extremo de como a IA pode dominar a matriz de um país pequeno, levando a moratórias e tensões regulatórias. (2) xAI COLOSSUS — escala de cluster: 100.000 GPUs, ~150 MW, construído em Memphis em tempo recorde, ilustrando a velocidade da expansão (RAND, 2025). (3) STARGATE — ambição futura: anúncio de US$ 500 bilhões para até 10 data centers de ~5 GW cada, cada um consumindo mais que estados americanos inteiros (MIT Tech Review, 2025). Esses casos dão escala humana aos números e mostram três faces do fenômeno: saturação nacional, velocidade de construção e magnitude dos planos. Transição para a Parte 5: quanto de energia cada uso real de IA consome.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F3621-AB1E-C3AD-918E-DACB680D3B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3635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AF159-A030-D339-395E-C201CD58B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8C14C2-7A2F-98B5-84A0-1DE040973C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47E590-A135-7E29-07EB-82CAD92DBB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Três casos complementares. (1) IRLANDA — concentração nacional: data centers já consomem 21% da eletricidade do país (2023), com projeção de 30% até 2030 (Lo Schiavo, 2025). É o caso extremo de como a IA pode dominar a matriz de um país pequeno, levando a moratórias e tensões regulatórias. (2) xAI COLOSSUS — escala de cluster: 100.000 GPUs, ~150 MW, construído em Memphis em tempo recorde, ilustrando a velocidade da expansão (RAND, 2025). (3) STARGATE — ambição futura: anúncio de US$ 500 bilhões para até 10 data centers de ~5 GW cada, cada um consumindo mais que estados americanos inteiros (MIT Tech Review, 2025). Esses casos dão escala humana aos números e mostram três faces do fenômeno: saturação nacional, velocidade de construção e magnitude dos planos. Transição para a Parte 5: quanto de energia cada uso real de IA consome.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08419B-A31E-35CF-8A83-81B82BA91A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12804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Recapitule a Parte 4. (1) Três métricas-chave: PUE (energia), WUE (água), CUE (carbono) — o PUE sozinho é insuficiente. (2) Os melhores atingem PUE ~1,1, mas a média global estagnou em ~1,5. (3) Densidade de IA (30-150 kW/rack) forçou a refrigeração líquida. (4) Água: ~4,35 L/kWh nos EUA, um custo ambiental crescente. (5) CUE = β × PUE: o carbono depende tanto da matriz quanto da eficiência. (6) Os campi de IA operam na escala de gigawatts. Transição: já entendemos a infraestrutura; a Parte 5 quantifica quanta energia cada ATIVIDADE de IA (treino, fine-tuning, RAG, inferência, geração de imagem/vídeo) realmente consome.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7B9B7-BBAA-CE23-4A52-6B3D4109C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ED8B01-ED39-618B-65EA-0632E9EC90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FCC576-D4D8-81AF-42DF-1ADD62E9FB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Estabeleça o quadro da Parte 5. O ciclo de vida energético de um modelo divide-se em treino (~30-40%, incluindo preparação) e inferência (~60%, podendo chegar a &gt;90% em escala — Chen et al., 2025). UNU-INWEH (2026) reforça: 80-90% da energia OPERACIONAL da IA é inferência. Isso inverte a intuição comum (que foca no custo chocante do treino). A razão: o treino acontece uma vez, mas a inferência se repete bilhões de vezes. Implicação prática: para reduzir o impacto da IA, otimizar a inferência (modelos menores, quantização, MoE) costuma render mais que otimizar o treino. Mantenha essa moldura ao apresentar os números a seguir.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C30F23-3219-ABE8-34E2-138480A7A9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87184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350F7-358C-CEA0-6A80-A5250C741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EA2C08-820A-73A6-C8DB-76BDE25A1F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920828-9204-B75E-34F8-0261EAC852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Estabeleça o quadro da Parte 5. O ciclo de vida energético de um modelo divide-se em treino (~30-40%, incluindo preparação) e inferência (~60%, podendo chegar a &gt;90% em escala — Chen et al., 2025). UNU-INWEH (2026) reforça: 80-90% da energia OPERACIONAL da IA é inferência. Isso inverte a intuição comum (que foca no custo chocante do treino). A razão: o treino acontece uma vez, mas a inferência se repete bilhões de vezes. Implicação prática: para reduzir o impacto da IA, otimizar a inferência (modelos menores, quantização, MoE) costuma render mais que otimizar o treino. Mantenha essa moldura ao apresentar os números a seguir.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4D260-E104-1BF1-30D8-068D6FC384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07593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22F8E-964D-8B37-B906-B0E7C5602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0C24EC-2A0E-E851-50FE-BBB5515906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56C33C-737B-E3A1-0781-D8446BEFB5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Estabeleça o quadro da Parte 5. O ciclo de vida energético de um modelo divide-se em treino (~30-40%, incluindo preparação) e inferência (~60%, podendo chegar a &gt;90% em escala — Chen et al., 2025). UNU-INWEH (2026) reforça: 80-90% da energia OPERACIONAL da IA é inferência. Isso inverte a intuição comum (que foca no custo chocante do treino). A razão: o treino acontece uma vez, mas a inferência se repete bilhões de vezes. Implicação prática: para reduzir o impacto da IA, otimizar a inferência (modelos menores, quantização, MoE) costuma render mais que otimizar o treino. Mantenha essa moldura ao apresentar os números a seguir.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A92514-B9CF-0BC0-65C6-4224164950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135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6075A-1260-3687-7758-A87CE561C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2B6096-A03C-F690-DBB4-74EA7B3785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B4A34A-A48C-1DC1-0464-AF9BB30584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Estabeleça o quadro da Parte 5. O ciclo de vida energético de um modelo divide-se em treino (~30-40%, incluindo preparação) e inferência (~60%, podendo chegar a &gt;90% em escala — Chen et al., 2025). UNU-INWEH (2026) reforça: 80-90% da energia OPERACIONAL da IA é inferência. Isso inverte a intuição comum (que foca no custo chocante do treino). A razão: o treino acontece uma vez, mas a inferência se repete bilhões de vezes. Implicação prática: para reduzir o impacto da IA, otimizar a inferência (modelos menores, quantização, MoE) costuma render mais que otimizar o treino. Mantenha essa moldura ao apresentar os números a seguir.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591D2D-9BAE-28C3-5160-F237EE9955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63572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4DA94-1835-CE35-B010-A2CEF99C6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FC1628-D883-842A-A3B4-CDC0A29301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C19C4D-73EE-02F0-0D4E-EF38C2AB70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Estabeleça o quadro da Parte 5. O ciclo de vida energético de um modelo divide-se em treino (~30-40%, incluindo preparação) e inferência (~60%, podendo chegar a &gt;90% em escala — Chen et al., 2025). UNU-INWEH (2026) reforça: 80-90% da energia OPERACIONAL da IA é inferência. Isso inverte a intuição comum (que foca no custo chocante do treino). A razão: o treino acontece uma vez, mas a inferência se repete bilhões de vezes. Implicação prática: para reduzir o impacto da IA, otimizar a inferência (modelos menores, quantização, MoE) costuma render mais que otimizar o treino. Mantenha essa moldura ao apresentar os números a seguir.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513727-90E7-1F49-E248-F0BFAEDCC1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33942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Divisor da Parte 5. Aqui aplicamos tudo das Partes 3-4 para quantificar o consumo de cada atividade de IA. Tema metodológico forte: as estimativas variam muito entre fontes; ensine os alunos a interpretar essa incerteza com rigor.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Estabeleça o quadro da Parte 5. O ciclo de vida energético de um modelo divide-se em treino (~30-40%, incluindo preparação) e inferência (~60%, podendo chegar a &gt;90% em escala — Chen et al., 2025). UNU-INWEH (2026) reforça: 80-90% da energia OPERACIONAL da IA é inferência. Isso inverte a intuição comum (que foca no custo chocante do treino). A razão: o treino acontece uma vez, mas a inferência se repete bilhões de vezes. Implicação prática: para reduzir o impacto da IA, otimizar a inferência (modelos menores, quantização, MoE) costuma render mais que otimizar o treino. Mantenha essa moldura ao apresentar os números a seguir.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Apresente a magnitude do custo de treino. GPT-2 ~1,4 MWh; GPT-3 1.287 MWh (de Vries, 2023) ≈ consumo anual de ~120 residências americanas; Bloom 176B 433 MWh; Llama-2 13B 147 MWh; Llama 3.1 405B ~21 GWh; GPT-4 ~50-62 GWh — o suficiente para alimentar São Francisco por ~3 dias (MIT Tech Review). A escala logarítmica é necessária porque há ~5 ordens de magnitude entre os extremos. Note que MoE e FP8 (DeepSeek, Parte 8) podem reduzir drasticamente esse custo. Importante: estes números são estimativas; a divergência entre fontes (50 vs 62 GWh para GPT-4) será discutida adiante. Mensagem: embora enorme em termos absolutos, o treino de TODOS os grandes modelos juntos foi estimado pela IEA em ~1,7 TWh — cerca de 0,001% da eletricidade global. O peso está na operação.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Coloque o custo de treino em perspectiva dupla. Por um lado, é grande por execução: o treino do GPT-4 equivale à eletricidade diária de ~28.500 residências de economias avançadas (IEA, 2025). Por outro, no agregado é pequeno: a IEA estima que TODO o treino de grandes modelos desde 2020 somou ~1,7 TWh, ~0,001% da eletricidade global — porque o treino, embora intenso, é raro comparado à inferência contínua. Mas há pegadas além da energia (UNU-INWEH, 2026): o treino do GPT-4 teria emitido ~25.000 t CO₂e e consumido ~600 milhões de litros de água (~237 piscinas olímpicas). E há a energia incorporada na fabricação: a TSMC sozinha usou &gt;20 TWh em 2023 produzindo chips. Mensagem: o foco midiático no treino é justificado pela pegada ambiental concentrada, mas o consumo SISTÊMICO vem da operação.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Fine-tuning é a adaptação de um modelo pré-treinado a uma tarefa específica, custando uma fração do pré-treino porque reaproveita todo o conhecimento já adquirido. Técnicas PEFT (Parameter-Efficient Fine-Tuning), como LoRA (Low-Rank Adaptation), ajustam apenas um pequeno conjunto de parâmetros adicionais, mantendo o modelo base congelado — cortam energia em até ~70% vs fine-tuning completo (Sheng et al., 2026). O fine-tuning seletivo reduz energia em até ~64% (Chen et al., 2025). E, frequentemente, um modelo menor especializado supera um modelo grande genérico numa tarefa, com &gt;50% menos energia. Mensagem para cientistas de dados: nem todo problema precisa do maior modelo; a escolha de arquitetura e estratégia de adaptação tem impacto energético direto. Antecipa a Parte 8 (compressão).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RAG (Retrieval-Augmented Generation) é uma arquitetura em que, em vez de codificar todo o conhecimento nos pesos do modelo, o sistema busca documentos relevantes em uma base externa (tipicamente um banco vetorial) e os injeta como contexto no prompt. Vantagens energéticas: evita retreinar o modelo para incorporar conhecimento novo, e permite usar um modelo-base menor (já que ele não precisa 'memorizar' tudo). Custo energético: aumenta o número de tokens do contexto (lembre o custo quadrático da atenção, que vocês já conhecem do Transformer), elevando a energia por consulta; e adiciona o consumo do sistema de recuperação. O balanço líquido depende do caso de uso — daí a importância de medir. Para os alunos: RAG é hoje uma das arquiteturas mais comuns em produção, e seu perfil energético é distinto tanto do treino quanto da inferência pura.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Este é o slide-chave sobre inferência. A energia por consulta varia ~150× conforme o tipo de uso: texto curto ~0,24-0,3 Wh (mediana do Gemini 0,24 Wh; média do ChatGPT ~0,3-0,34 Wh); geração de imagem ~2,9 Wh; e consultas de raciocínio longo (reasoning) 30-40 Wh (GPT-o3 39,2; DeepSeek-R1 33,6 — Chen et al., 2025). A escala logarítmica revela que NÃO é só o tamanho do modelo que importa, mas QUANTO ele computa por resposta: respostas longas, cadeias de raciocínio e agentes que fazem múltiplas chamadas multiplicam o consumo. Contextualize: ~0,3 Wh ≈ 10 segundos de um micro-ondas; mas um usuário intenso de agentes pode chegar a 2,4 kWh/dia. Atenção metodológica: valores GPU-only devem ser ~dobrados para incluir o overhead da instalação (PUE + GPUs = 50-60% do total).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Refine a unidade de análise: o token. Cada token gerado por um LLM exige uma passagem completa (forward pass) por todo o modelo, então a energia de uma consulta ≈ energia por token × número de tokens. Isso explica por que respostas longas e, especialmente, os modelos de raciocínio (que geram extensas cadeias de pensamento internas antes de responder) consomem tanto: ~43× mais energia para problemas simples comparados a uma resposta direta (Chen et al., 2025; MIT Tech Review). A comparação clássica de de Vries (2023): uma interação com LLM consome ~3 Wh vs ~0,3 Wh de uma busca tradicional na web — cerca de 10× mais. Mensagem: a tendência da indústria de modelos que 'pensam mais' e de agentes autônomos (múltiplas chamadas encadeadas) é uma força de PRESSÃO sobre o consumo, mesmo com hardware mais eficiente.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Quantifique a mídia generativa, muito mais cara que texto. Imagem: ~2,9 Wh por imagem padrão (UNU-INWEH, 2026), ~60× uma resposta curta de texto, com ~1,22 g CO₂e e ~28,6 mL de água por imagem. Vídeo é o extremo: &gt;415 Wh por vídeo curto de alta resolução; um modelo recente de vídeo de 5 segundos consome ~3,4 milhões de joules (~0,94 kWh), 30× mais que a geração anterior (MIT Tech Review, 2025). Escala: &gt;34 milhões de imagens de IA geradas por dia já em 2023. O lado otimista: as configurações importam muito — reduzir frames, resolução e passos de difusão pode cortar até ~99% da energia. Mensagem: à medida que a IA generativa migra de texto para imagem e vídeo, a intensidade energética por interação cresce ordens de magnitude — um vetor de crescimento a monitorar (Parte 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Apresente um dos pontos mais instigantes da literatura recente (Ritchie, 2026, citando a IEA). Faça a conta de guardanapo: se houver ~10 bilhões de consultas de texto por dia, a ~1 Wh cada, isso dá ~10 GWh/dia = ~3,65 TWh/ano. Mas os data centers focados em IA consumiram ~155 TWh em 2025. Ou seja, as consultas de texto visíveis (chatbots) explicam apenas ~2% do consumo atribuído à IA. Onde estão os outros ~98%? Em treino contínuo, geração de imagem e vídeo (muito mais caras), IA embutida em inúmeros produtos (busca, recomendação, tradução), e em sobrecapacidade/baixa utilização de hardware. Lição crucial para o aluno: a 'IA' energeticamente relevante é muito maior que o chatbot que vemos — é uma camada difusa em toda a computação. Isso também explica por que estimar o consumo é tão difícil (próximo slide).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Destaque que, para capacidade similar, o consumo pode variar ordens de magnitude conforme arquitetura e otimização. DeepSeek demonstrou arquiteturas (MoE + atenção eficiente + FP8) que reduzem energia de inferência em 50-70% e computação de treino em 80-90% vs alternativas (reportado; UNU-INWEH, 2026; Ali, 2026). O GPT-OSS-120B tem pegada de treino ~30× menor que o GPT-4. Implicação ambígua: modelos eficientes e abertos podem democratizar a IA com menor custo energético, MAS o barateamento estimula mais uso (paradoxo de Jevons), tornando o efeito líquido incerto. Para o cientista de dados: a escolha do modelo é uma decisão energética. Apresente também a divergência: a alegação de 80-90% do DeepSeek é debatida — sempre verifique reprodutibilidade. Transição para o próximo slide sobre por que medir é difícil.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Slide metodológico essencial. Mostre que estimativas do MESMO objeto divergem muito. Treino do GPT-4: 42,4 GWh (IEA, contagem só de GPUs) vs 50 GWh (MIT) vs 50-70 GWh (UNU-INWEH). Consulta de texto: de ~0,0005 Wh (Ifri, estimativa antiga/otimista) a ~0,3-0,42 Wh (MIT/UNU) — três ordens de magnitude. Fontes da incerteza: (1) escopo — medir só a GPU ou a instalação inteira (incluir PUE quase dobra); (2) variação de modelo, hardware e utilização; (3) falta de transparência dos fabricantes. A postura cientificamente correta — que os alunos devem adotar — é apresentar FAIXAS com escopo e fonte explícitos, nunca números pontuais sem contexto. Esta é uma lição transferível para qualquer análise quantitativa em ciência de dados: a precisão aparente de um número isolado pode esconder enorme incerteza.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Encerre os números com algo tangível. MIT Tech Review (2025) calculou que um dia de uso variado de IA (15 consultas de texto + 10 imagens + 3 vídeos) consome ~2,9 kWh. Crucialmente, o impacto de carbono desse mesmo dia varia com a matriz: ~650 g CO₂e na Califórnia (rede mais limpa) vs &gt;1.150 g na Virgínia Ocidental (rede a carvão) — quase 2×, reforçando o conceito de CUE (Parte 4). Ritchie (2026): um usuário intenso de agentes (24 consultas/dia × ~100 Wh) chega a 2,4 kWh/dia, ~7% do consumo elétrico diário de um americano médio. Mensagem: o impacto individual ainda é modesto comparado a aquecimento/transporte, mas (1) escala com bilhões de usuários e (2) depende fortemente de onde e quando roda. Isto prepara a Parte 6 (impacto agregado na rede) e a Parte 7 (carbono).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Divisor da Parte 6. Passamos do consumo (Partes 3-5) para os efeitos sistêmicos. Esta é a parte de engenharia de sistemas elétricos de potência: como cargas grandes, concentradas e de perfil incomum afetam a rede.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Use o dataset autoritativo dos EUA (LBNL, 2024). O consumo ficou estável em ~60 TWh de 2014 a 2016 (ganhos de eficiência compensavam o crescimento), mas inflexionou em 2017 quando servidores de IA aceleração por GPU ganharam peso. Chegou a 176 TWh em 2023 = 4,4% da eletricidade dos EUA, mais que dobrando em 6 anos. Projeção 2028: 325-580 TWh (uso o ponto médio ~450 no gráfico), equivalente a 6,7%-12% da eletricidade nacional, ou 74-132 GW de potência a 50% de utilização. Este é o ponto de partida do impacto na rede: não é só o volume (TWh), mas a velocidade (CAGR de 13-27% entre 2023-2028) que desafia o planejamento, historicamente acostumado a crescimento de demanda quase nulo. Compare com a estagnação anterior: a IA reintroduziu crescimento de carga após duas décadas de platô.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Slide para ensinar leitura crítica de projeções. Os números variam enormemente porque medem coisas diferentes: Goldman Sachs (2026) projeta 66 GW de DEMANDA de data centers nos EUA até 2027; RAND (2025) projeta 68 GW de CAPACIDADE GLOBAL de IA em 2027 e 327 GW em 2030 (cenário alto); Deloitte (2025) projeta 123 GW de IA nos EUA até 2035 (crescimento de 30× sobre 4 GW em 2024). Cada um tem escopo geográfico (EUA vs global), métrica (demanda vs capacidade) e horizonte distintos. A mensagem para o aluno: NUNCA compare projeções sem ler as definições; a aparente contradição some quando se alinham os escopos. Apesar das diferenças, todas concordam na direção e magnitude: crescimento de dezenas a centenas de GW em poucos anos — sem precedente histórico recente.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A IA não distribui carga uniformemente — cria centros de carga concentrados. ~80% da demanda de data centers dos EUA está em apenas 15 estados (Chen et al., 2025); quase metade em cinco clusters regionais (IEA, 2025). Northern Virginia (&gt;2,5-5 GW), Irlanda (21% da eletricidade nacional). O problema: um único campus de IA pode demandar 1-5 GW (um campus de 5 GW = energia de ~5 milhões de residências, mais que a maior usina nuclear dos EUA). A rede de transmissão e distribuição local raramente foi projetada para absorver tal densidade de carga concentrada num ponto. Isso gera filas de conexão, necessidade de novas linhas e subestações, e tensões com consumidores existentes. Conceito de engenharia: a localização da carga (não só seu tamanho) determina o estresse na rede — daí o interesse em 'sitting' inteligente (Parte 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O gargalo central é o descompasso temporal entre a velocidade dos data centers e a lentidão da rede. Conectar uma grande carga à transmissão leva 4-8 anos de fila; a Deloitte (2025) documenta esperas de até 7 anos. As filas de interconexão de GERAÇÃO nos EUA já excedem toda a capacidade da frota existente. Enquanto isso, um data center se constrói em 1-2 anos (às vezes 1). Resultado: ~20% dos projetos de data center estão em risco de atraso por restrições de rede (IEA, 2025). Isso empurra desenvolvedores para soluções que contornam a rede: geração local a gás, acordos diretos com usinas nucleares (co-location), 'behind-the-meter'. Essas saídas levantam questões regulatórias (Parte 6 final). Para o aluno de sistemas de potência: o planejamento de expansão da transmissão, historicamente reativo, precisa virar proativo diante de cargas que aparecem em meses.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Na distribuição, o problema não é só volume, mas QUALIDADE de energia. Data centers são cargas eletrônicas não-lineares (UPS de dupla conversão, fontes chaveadas) que injetam harmônicos na rede. A distorção harmônica total (THD) frequentemente excede 5-10%, acima do limite de 5% da norma IEEE 519 (AI-Driven DC Survey, 2025; Sheng et al., 2026). Os harmônicos de 3ª, 5ª e 7ª ordem são dominantes. Variações abruptas de carga (10-20 MW) causam quedas de tensão (voltage sags). O fator de potência degradado reduz a eficiência de transmissão em 10-15%. Mitigação: filtros ativos de potência (APF) e compensadores estáticos (SVG) reduzem a THD para &lt;3%. Para o aluno: estes são problemas clássicos de qualidade de energia, agora em escala e concentração sem precedentes. A norma IEEE 519 define os limites aceitáveis de distorção no ponto de acoplamento comum (PCC).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Apresente evidências concretas de impacto na confiabilidade. ERCOT (Texas): a perda súbita de &gt;2.600 MW de cargas elevou a frequência a 60,4 Hz (acima do nominal de 60 Hz) — Chen et al. (2025). Dominion (Virgínia): um trip de 1,5 GW em 60 data centers. Em 2024, 60 de &gt;200 DCs da Virgínia se desconectaram juntos. Evento de sobrefrequência em julho/2024: perda de ~1.500 MW. Uma instalação de cripto rampou 298 MW para baixo em 25 segundos (NERC). Desvios de tensão de ±5-10% em redes fracas. O ponto de engenharia: o sistema elétrico mantém o equilíbrio instantâneo entre geração e carga; quando GW de carga somem ou aparecem em segundos, a frequência se desvia, podendo disparar proteções em cascata. Cargas de IA têm proteções sensíveis (para proteger GPUs caras) que as fazem desconectar a distúrbios menores, agravando o problema. Próximo slide: a física disso (RoCoF).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Aprofunde a física da estabilidade com o trabalho de Jiménez-Ruiz &amp; Milano (2025), que modela data centers para análise de estabilidade transitória no sistema irlandês. Evento real: uma falha causou a queda de 204 MW de demanda de DC, gerando um RoCoF (Rate of Change of Frequency) de 0,12 Hz/s e um pico de frequência de 50,22 Hz (acima do nominal de 50 Hz na Europa). Contexto: DCs na Irlanda são 800 MW de um pico de 7 GW, rumo a 1,6 GW (~30%) em 2030. Conceitos-chave: a frequência da rede reflete o equilíbrio geração-carga; a INÉRCIA das máquinas rotativas resiste a mudanças rápidas, mas renováveis (inversores) têm baixa inércia, então perdas súbitas causam RoCoF alto, que pode disparar proteções em cascata. Cargas de IA com perfil pulsante ('flapping' — o treino que liga/desliga blocos de GPUs sincronamente) amplificam o problema. Para o aluno de potência: este é um problema de estabilidade de frequência de ponta, na fronteira da pesquisa atual.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Mostre que o impacto já é econômico e mensurável. O PJM (maior operador de mercado dos EUA) viu o custo do leilão de capacidade saltar de US$ 2,2 bilhões (2024) para US$ 14,7 bilhões (2025) — ~7× — atribuído 'quase inteiramente' à carga de data centers pelo monitor de mercado (Lo Schiavo, 2025). O preço de capacidade 2026-27 chegou a US$ 329/MW-dia vs US$ 28,9 anterior (&gt;10×). Do crescimento de pico projetado de 32 GW (2024-2030), 30 GW (94%) vêm de data centers — equivalente a toda a capacidade instalada da Áustria. Consequência social: as contas de luz podem subir ~8% até 2030 (até 25% em algumas regiões), criando tensão de 'affordability' — quem paga pela infraestrutura: os data centers ou todos os consumidores? Este é o cerne do debate regulatório (volta na Parte final e na Parte 8). Conceito: mercados de capacidade pagam por disponibilidade de geração futura; a demanda nova de IA eleva o preço para todos.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Inverta a narrativa: a carga de IA pode ser parte da SOLUÇÃO se for flexível. Estudo da Duke (citado em Ginzburg-Ganz et al., 2026): se data centers aceitarem reduzir apenas 0,25% do uptime, liberam 76 GW de capacidade na rede dos EUA; reduzir 1% libera 126 GW (~10% da capacidade nacional). Por que é viável: mais de 50% das cargas de IA são tolerantes a atraso (treino, processamento em lote podem esperar — Zhang et al., 2025); a rede dos EUA opera a apenas ~53% da capacidade média, com folga fora dos picos; e armazenamento + geração local permitem absorver picos sem recorrer à rede. O obstáculo é a cultura de 99,99% de uptime (Parte 4) e a falta de incentivos. Conceito central de sistemas de potência: a flexibilidade da demanda (demand flexibility) é um recurso tão valioso quanto nova geração — e a IA, sendo grande e parcialmente adiável, é candidata ideal. Próximo slide: como ativar essa flexibilidade via resposta da demanda.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Resposta da demanda (demand response) é o mecanismo que ativa a flexibilidade. Duas dimensões: TEMPORAL — rodar cargas adiáveis fora do pico, respondendo a preços ou sinais da rede (Zhang et al., 2025, Applied Energy mostra que uma estratégia de preços coordenada com VEs reduz flutuações de carga em &gt;20% e ocupação de linhas de transmissão em ~15%); e ESPACIAL — enviar o trabalho para data centers em regiões com folga de rede ou energia mais limpa. Chen et al. (2025): o deslocamento espacial sensível ao carbono ('carbon-aware') corta emissões em ~10% sem nenhuma mudança de hardware. O acoplamento com veículos elétricos e armazenamento (Parte 9) amplia o pool de flexibilidade. Para o aluno: este é o paradigma de 'carga como recurso' — em vez de a geração seguir a carga, a carga (de IA) passa a seguir a disponibilidade de energia. É a ponte para a Parte 8 (mitigação) e Parte 9 (futuro).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Encerre o impacto sistêmico com a dimensão regulatória (Lo Schiavo, 2025). Os marcos tradicionais não foram desenhados para cargas que crescem dezenas de GW em poucos anos. Novos instrumentos: ERCOT (Texas) aprovou a SB-6, redefinindo a interconexão para cargas &gt;75 MW; o PJM propõe 'Non-Capacity-Backed Loads' (cargas &gt;50 MW que aceitam ser cortadas) e até um 'kill switch' remoto para desconectar grandes cargas em emergências; a FERC rejeitou (2-1, nov/2024) o caso Amazon-Talen de co-location direta com usina nuclear, sinalizando cautela. Lacuna importante: a NERC governa diretamente &lt;5% da capacidade de data centers dos EUA. Lo Schiavo enquadra o desafio em cinco tensões: estabilidade da rede, sustentabilidade, acessibilidade (affordability), não-discriminação entre consumidores e independência regulatória. Para o aluno: a regulação é o campo onde engenharia, economia e política se encontram — e está sendo reescrita em tempo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Recapitule a Parte 6. (1) A demanda dispara: de 4,4% (2023) para até 12% (2028) da eletricidade dos EUA. (2) O impacto já é econômico: 94% do crescimento de pico do PJM vem de DCs, elevando custos. (3) Descompasso temporal: filas de conexão de 4-8 anos vs construção em 1-2 anos. (4) Riscos de estabilidade: desvios de frequência por perdas súbitas de GW. (5) Mas há solução: flexibilidade pode liberar 126 GW. (6) A regulação se reescreve sob cinco tensões. Transição: vimos o impacto na rede; a Parte 7 examina a consequência ambiental dessa energia — as emissões de carbono e a sustentabilidade.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Divisor da Parte 7. Convertemos o consumo de energia em impacto ambiental. Mensagem central: a MESMA computação tem pegadas muito diferentes conforme onde e quando roda. Trate as metas corporativas com olhar crítico.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Dimensione a pegada. IEA (2025): 180 Mt CO₂ em 2024 → 300 Mt (Base) em 2035, mantendo-se &lt;1,5% das emissões do setor de energia. UNU-INWEH (2026): ~189 Mt CO₂e em 2025. A intensidade de carbono dos DCs é ~48% MAIOR que a média dos EUA (rodam 24/7, onde há energia disponível, muitas vezes gás/carvão). Treino vs inferência espelha a energia: o treino do GPT-4 emitiu ~25.000 t CO₂e (único), mas a inferência em escala domina as emissões operacionais. Contraponto honesto: a IA aplicada à economia poderia EVITAR ~5% das emissões do setor de energia em 2035 — balanço líquido incerto. Apresente sempre os dois lados.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Slide-chave da Parte 7. A pegada de carbono depende esmagadoramente da matriz local: ~19× de diferença entre França (~37 g/kWh) e Índia (~713 g/kWh). UNU-INWEH (2026): rodar IA na Indonésia emite +62% vs a média global; na França/Suécia ~88-91% abaixo. Conecte ao CUE = β × PUE (Parte 4): aqui β (a matriz) é o eixo dominante. Implicação: a localização dos data centers e o deslocamento espacial de cargas são as alavancas mais poderosas de descarbonização — sem mudar modelo nem hardware. O Brasil, com matriz predominantemente hidrelétrica, tem baixa intensidade de carbono, mas alta pegada hídrica — trade-off típico.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big techs são as maiores compradoras corporativas de energia limpa (Google 18,3 TWh, Microsoft 13 TWh, Meta 9,4 TWh em 2021), via PPAs de longo prazo. A IEA projeta metade do crescimento de DC atendido por renováveis. MAS a natureza 24/7 da IA (alto fator de capacidade) exige energia firme: renováveis intermitentes não bastam sozinhas. Daí o renascimento nuclear — Microsoft religando Three Mile Island (835 MW), AWS–Talen (960 MW), Google–Kairos (SMRs ~2030). Trade-off: nuclear resolve carbono e firmeza, mas tem prazo e custo; gás é rápido mas emite. Discuta com a turma a escolha de fonte como um trade-off entre velocidade, custo e carbono.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Trate as metas com rigor. Elas existem (Meta net-zero desde 2020, Amazon até 2040, Microsoft/Google mirando 24/7 CFE), mas ensine três perguntas: (1) QUANDO — compensar 100% na média ANUAL não é rodar limpo a cada hora; à noite/sem vento consome-se da rede comum (daí a meta '24/7 CFE'); (2) ADICIONALIDADE — o PPA financiou capacidade NOVA ou só comprou certificados de geração existente?; (3) BALANÇO LÍQUIDO — a demanda da IA pode crescer mais rápido que a adição de renováveis, aumentando o uso absoluto de fósseis mesmo com 'metas verdes'. É o tipo de pensamento crítico que um cientista de dados deve aplicar a qualquer alegação quantitativa.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Amplie a sustentabilidade além do carbono (UNU-INWEH, 2026). ÁGUA: ~4,5 trilhões de litros em 2025; intensidade ~4,35 L/kWh (LBNL); dois terços dos novos DCs dos EUA em regiões de estresse hídrico. TERRA: ~6.900 km² em 2025. E-LIXO: até 2,5 milhões t/ano até 2030. MATERIAIS CRÍTICOS: dependência de insumos como o gálio (China refina ~99%). Mensagem-chave: reduzir uma dimensão pode agravar outra — refrigeração a água corta energia mas aumenta consumo hídrico; nuclear corta carbono mas usa muita água. Uma análise honesta de sustentabilidade da IA é multidimensional.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Tabela comparativa (UNU-INWEH, 2026). Insight: não há país 'perfeito' — há trade-offs. França: carbono baixíssimo (nuclear). Suécia: carbono baixo, mas água +110% (hidrelétrica). EUA: carbono -18%, mas 45% dos DCs e alto uso hídrico. China +21% (25% dos DCs). Índia +51% (carvão). Brasil: carbono baixo (hidrelétrica) mas água +191% — relevante para o contexto nacional. Lições: descarbonizar pode aumentar a pegada hídrica; a geografia da IA tem dimensão geopolítica; escolher onde construir é uma decisão ambiental multidimensional. Pergunta para discussão: onde você construiria um data center sustentável?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Divisor da Parte 8. A parte 'solução': como reduzir o consumo em cada camada. Os ganhos se multiplicam ao longo da pilha, mas eficiência sozinha não garante redução absoluta (Jevons).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Estrutura da Parte 8: quatro camadas, da computação à rede. (1) MODELO — torná-lo intrinsecamente mais barato. (2) HARDWARE — mais FLOPs por watt. (3) DATA CENTER — reduzir overhead (refrigeração, PUE). (4) SISTEMA — usar a energia certa na hora/lugar certo. Princípio-chave: EFICIÊNCIA COMPOSTA — ganhos em camadas diferentes se multiplicam. Mas (último slide) a eficiência reduz o custo por tarefa, não necessariamente o consumo total (Jevons).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três principais técnicas de compressão. QUANTIZAÇÃO: reduzir bits por número (16→8→4); int4 dá ~4× menos memória; FP8 no treino foi chave para o DeepSeek-V3. DISTILLATION: um 'aluno' pequeno imita um 'professor' grande, barateando a inferência (que domina o consumo). PRUNING: remover pesos/estruturas redundantes; esparsidade estruturada de 50% reduz memória em 75%. Todas atacam o 'memory wall' — como mover dados domina o consumo, reduzir bytes economiza mais que reduzir aritmética. Combinadas, podem cortar &gt;90% em casos específicos. Para o cientista de dados: a escolha de arquitetura e precisão é uma decisão energética direta.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MoE desacopla capacidade de custo. Em vez de um modelo denso onde todos os parâmetros processam cada token, divide-se em 'experts' e um roteador (gating) seleciona poucos por token. Resultado: capacidade total enorme, computação por token baixa. DeepSeek-V3: 671 bi totais, ~37 bi ativos por token. A energia de inferência cai na proporção dos experts ativados. Desafios: balanceamento de carga e overhead de roteamento/comunicação. É hoje a principal alavanca arquitetural para escalar capacidade sem escalar proporcionalmente a energia.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Duas camadas físicas. HARDWARE: especialização (GPU→TPU→ASIC) e precisão reduzida (FP8/INT8) elevam os FLOPs/W; mas a eficiência do hardware cresce ~1,3×/ano enquanto a demanda cresce 4-5×/ano — o hardware sozinho jamais acompanha. REFRIGERAÇÃO (~30% do consumo): líquido/imersão cortam 30-40% (PUE até ~1,03); free cooling em clima frio corta 50-70%; elevar a temperatura de operação corta 20-40%; recuperação de calor reaproveita o calor residual (aquecimento distrital, estufas), transformando custo em recurso. São eficiências que não tocam na computação útil.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camada de sistema. ALOCAÇÃO INTELIGENTE: DVFS ajusta frequência/tensão à carga (−27% com −10% de frequência, pois a potência cresce mais que linearmente); consolidação de VMs; escalonamento sensível a energia/carbono (rodar quando/onde a energia é limpa — Parte 6). IA OTIMIZANDO IA: o DeepMind reduziu a refrigeração do Google em ~40% com redes neurais; digital twins + RL atingem −41%; previsão de carga com LSTM permite pré-resfriamento; agentes realocam cargas entre data centers. Ciclo virtuoso: a IA que consome energia também otimiza os sistemas que a alimentam — mas verifique a generalização (muitos resultados são de simulação).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Síntese quantitativa das mitigações. Ganhos representativos: quantização int4 ~50%, pruning 50% reduz memória ~75%, LoRA até 70%, DRL refrigeração ~31%, DeepMind ~40%, governança por IA até 50%. ATENÇÃO METODOLÓGICA (repita): vêm de metodologias, baselines e escopos diferentes — não são somáveis nem diretamente comparáveis; muitos são de simulação. O valor: (1) há muita gordura para cortar; (2) combinados na pilha (modelo × hardware × DC × sistema), multiplicam-se. PORÉM — gancho para o próximo slide — eficiência por tarefa não garante redução do consumo total (Jevons).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Encerre com realismo: o paradoxo de Jevons. Mecanismo: eficiência ↓ custo ↓ preço ↑ demanda ↑ consumo total. Evidência (de Vries, 2023): o GPT-4 foi ~2,8× mais eficiente que o GPT-3 em 18 meses, e ainda assim o uso explodiu. Implicações: (1) a eficiência (todas as técnicas desta parte) é NECESSÁRIA mas não SUFICIENTE para reduzir o impacto absoluto; (2) é preciso também descarbonizar a OFERTA (Parte 7) e flexibilizar a carga (Parte 6); (3) a pergunta de política certa é 'qual o consumo total e como descarbonizá-lo?'. Princípio profundo, aplicável muito além da IA. Prepara as Partes 9 e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Divisor da Parte 9. Olhamos à frente. Mantenha o equilíbrio entre os riscos (demanda explosiva) e as oportunidades (IA otimizando a energia, data centers flexíveis). Enfatize a incerteza: os cenários divergem muito.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AGI (Artificial General Intelligence) — IA com capacidade geral comparável ou superior à humana — é o objetivo declarado de vários laboratórios, e a maior fonte de incerteza sobre a demanda futura. Se a estratégia de 'escalar para chegar à AGI' continuar, a computação (e energia) pode crescer ordens de magnitude: RAND (2025) projeta que um ÚNICO treino possa exigir 8 GW em 2030 (equivalente a 8 reatores nucleares) e a capacidade global de IA chegar a 327 GW (cenário alto); clusters de 1 milhão de GPUs até 2026. A IEA projeta uma faixa enorme para 2035: 700-1.700 TWh, refletindo a incerteza. Dois cenários opostos: (1) a escala continua rendendo capacidade e a demanda explode; (2) as leis de escala saturam (retornos decrescentes) ou a eficiência (MoE, etc.) desacopla capacidade de energia, estabilizando a demanda. Para o aluno: a previsão energética da IA é, em essência, uma aposta sobre a trajetória tecnológica — daí a importância de cenários, não previsões pontuais.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O outro lado da moeda: a IA como solução energética. IEA (2025) lista benefícios concretos da IA aplicada ao sistema elétrico: detecção de falhas que reduz a duração de quedas em 30-50%; otimização que pode 'destravar' até 175 GW de capacidade de transmissão existente sem construir novas linhas (usando melhor a infraestrutura atual); previsão de carga e de geração renovável com ML (Salam &amp; El Hibaoui, 2018, mostram Random Forest prevendo consumo urbano; Taifi et al., 2025, LSTM para servidores). Em toda a economia, a IA otimiza indústria, transporte e edificações. A IEA estima que a IA poderia EVITAR emissões equivalentes a ~5% das do setor de energia em 2035 — potencialmente mais que suas próprias emissões. Mensagem balanceada para o aluno: o impacto LÍQUIDO da IA sobre a energia depende de se os ganhos de otimização superam o custo de operá-la. É uma questão empírica em aberto, não uma certeza em nenhuma direção. Apresente honestamente as duas faces.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0AD18-9E2F-B419-5844-82900EFF1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DBE7ED-206E-C09B-9D6B-1775ADCB03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95683A-174E-D057-B6C4-C27354E813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O outro lado da moeda: a IA como solução energética. IEA (2025) lista benefícios concretos da IA aplicada ao sistema elétrico: detecção de falhas que reduz a duração de quedas em 30-50%; otimização que pode 'destravar' até 175 GW de capacidade de transmissão existente sem construir novas linhas (usando melhor a infraestrutura atual); previsão de carga e de geração renovável com ML (Salam &amp; El Hibaoui, 2018, mostram Random Forest prevendo consumo urbano; Taifi et al., 2025, LSTM para servidores). Em toda a economia, a IA otimiza indústria, transporte e edificações. A IEA estima que a IA poderia EVITAR emissões equivalentes a ~5% das do setor de energia em 2035 — potencialmente mais que suas próprias emissões. Mensagem balanceada para o aluno: o impacto LÍQUIDO da IA sobre a energia depende de se os ganhos de otimização superam o custo de operá-la. É uma questão empírica em aberto, não uma certeza em nenhuma direção. Apresente honestamente as duas faces.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6269ED-A597-A993-014E-EEE7D7F0A5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801052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B7796-FC42-8641-E5F4-7F45CE26B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9165E6-2C83-1FA5-ADE5-5DDD2FF066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3D85B5-C032-3753-9248-1C3FAEFFF2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O outro lado da moeda: a IA como solução energética. IEA (2025) lista benefícios concretos da IA aplicada ao sistema elétrico: detecção de falhas que reduz a duração de quedas em 30-50%; otimização que pode 'destravar' até 175 GW de capacidade de transmissão existente sem construir novas linhas (usando melhor a infraestrutura atual); previsão de carga e de geração renovável com ML (Salam &amp; El Hibaoui, 2018, mostram Random Forest prevendo consumo urbano; Taifi et al., 2025, LSTM para servidores). Em toda a economia, a IA otimiza indústria, transporte e edificações. A IEA estima que a IA poderia EVITAR emissões equivalentes a ~5% das do setor de energia em 2035 — potencialmente mais que suas próprias emissões. Mensagem balanceada para o aluno: o impacto LÍQUIDO da IA sobre a energia depende de se os ganhos de otimização superam o custo de operá-la. É uma questão empírica em aberto, não uma certeza em nenhuma direção. Apresente honestamente as duas faces.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ED61AB-54A3-CD19-AE78-E183BE647A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67178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Pinte a visão do data center do futuro: de carga passiva a 'prosumer' (produtor-consumidor) ativo da rede. Componentes (Zhang et al., 2025, que revê data centers de IA integrados a smart grids e energia distrital): geração própria (solar/eólica + PPA), armazenamento (HESS — Rahman &amp; Khan, 2026), flexibilidade de carga (rodar conforme a disponibilidade de energia), participação em resposta da demanda e serviços de rede (regulação de frequência, reserva), e recuperação de calor integrada a redes de aquecimento distrital. Paralelo pedagógico útil: assim como os veículos elétricos com V2G (Vehicle-to-Grid) podem injetar energia e estabilizar a rede (tema dos papers de EV no corpus — Patil &amp; Kalkhambkar, 2021; Tirunagari et al., 2022), os data centers, sendo grandes cargas flexíveis com armazenamento, podem virar recursos de estabilização. O armazenamento é o elo central. Para o aluno: esta é a convergência de tudo — a carga de IA bem projetada pode ACELERAR a transição energética em vez de atrapalhá-la, se houver flexibilidade, armazenamento e sinais de mercado corretos.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Feche a Parte 9 com os cenários da IEA, reforçando que o futuro é um LEQUE, não um ponto. Em 2024, 415 TWh; em 2035, a faixa vai de 700 TWh (Headwinds — eficiência alta, gargalos contêm o crescimento) a 1.200 TWh (Base) a 1.700 TWh (Lift-Off — adoção e escala explosivas). As variáveis que determinarão onde cairemos: (1) o ritmo dos ganhos de eficiência (MoE, FP8, hardware); (2) se as leis de escala saturam ou continuam rendendo; (3) gargalos físicos de rede e de chips; (4) a velocidade de descarbonização da oferta. Mensagem central para o aluno: como cientistas e engenheiros, nosso papel não é prever um número, mas entender as ALAVANCAS e monitorar os indicadores. A incerteza não é ignorância — é a estrutura honesta do problema. Transição para as conclusões: o que aprendemos e quais as oportunidades de pesquisa.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Divisor da Parte 10. Consolidação. Amarre as dez partes numa narrativa coerente e aponte caminhos de pesquisa para os alunos.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Síntese dos aprendizados centrais. (1) A escala é o motor: a computação de fronteira cresce 4-5×/ano, puxando a energia. (2) A inferência domina (80-90%) — contraintuitivo, mas decisivo para onde investir em eficiência. (3) Data centers vão de 1,5% (2024) a ~3% (2030) da eletricidade global, com a IA como motor do crescimento incremental. (4) O impacto é multidimensional: rede (GW concentrados que estressam transmissão/distribuição/estabilidade), carbono, água, terra, materiais. (5) A matriz e a localização importam tanto quanto a eficiência (CUE = β × PUE). (6) A eficiência é necessária mas insuficiente (Jevons); é preciso descarbonizar a oferta e flexibilizar a carga. Peça aos alunos que percebam como cada parte da aula se encaixa nesse quadro de sistema.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Organize os desafios em duas colunas. TÉCNICOS: (1) transparência de medição — o 'quebra-cabeça dos 98%' e a divergência de estimativas mostram que nem sabemos medir bem; (2) estabilidade da rede com cargas pulsantes e síncronas (RoCoF, eventos de desconexão); (3) qualidade de energia em alta densidade; (4) refrigeração de racks de 50-150 kW; (5) desacoplar capacidade de energia via arquitetura e hardware. ENERGÉTICOS/SISTÊMICOS: (1) o descompasso temporal rede vs data center; (2) garantir energia firme e limpa 24/7; (3) affordability — distribuir os custos de forma justa; (4) água e materiais em regiões vulneráveis; (5) regulação ágil. Mensagem: os desafios são interdisciplinares — nenhum se resolve isoladamente. Isso prepara as oportunidades de pesquisa.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Aponte caminhos de pesquisa concretos, conectados ao corpus. MODELAGEM E MEDIÇÃO: modelos abertos e reprodutíveis de consumo por arquitetura (responder ao 'quebra-cabeça dos 98%'); benchmarks padronizados de energia por tarefa; previsão de carga de DC e de geração renovável com ML (Racedo et al. 2026; Taifi et al. 2025; Salam &amp; El Hibaoui 2018). EFICIÊNCIA E SISTEMAS: compressão e MoE com garantias de qualidade; co-design hardware-modelo; escalonamento sensível a carbono e energia (carbon-aware computing); data centers como recursos flexíveis e prosumers; estabilidade de redes com alta penetração de cargas de IA e baixa inércia (Jiménez-Ruiz &amp; Milano 2025; Ginzburg-Ganz et al. 2026). Incentive os alunos a verem que muitos desses problemas combinam ciência de dados (previsão, otimização) com engenharia de potência — exatamente a interdisciplinaridade que torna o tema rico. Sugira que o trabalho final/projeto da disciplina pode atacar uma dessas linhas.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Slide de encerramento (fundo escuro, fecha o 'sanduíche' com a capa). Seis mensagens finais. (1) A IA é, hoje, também um problema de energia e de sistemas elétricos — não só de algoritmos. (2) Rigor com incerteza: faixas e cenários, nunca números pontuais sem fonte e escopo. (3) A inferência em escala domina, não o treino — onde focar a otimização. (4) Localização e timing (matriz elétrica) importam tanto quanto eficiência. (5) A solução é tripla: eficiência + descarbonização da oferta + flexibilidade da carga; nenhuma sozinha basta (Jevons). (6) Apelo profissional aos alunos: incorporar a energia como critério de mérito em ML, ao lado da acurácia — o paradigma 'Green AI'. Agradeça, abra para perguntas e remeta ao caderno de apoio (referências ABNT, banco de perguntas e questões de revisão) para estudo.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AC46D-10FC-5C09-061B-07DB80C95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0C5538-461D-5674-F160-1EFE7C0A41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4B2948-774D-6A09-9E4E-DBBFEC92D8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r>
              <a:rPr lang="en-US" dirty="0"/>
              <a:t>Slide de encerramento (fundo escuro, fecha o 'sanduíche' com a capa). Seis mensagens finais. (1) A IA é, hoje, também um problema de energia e de sistemas elétricos — não só de algoritmos. (2) Rigor com incerteza: faixas e cenários, nunca números pontuais sem fonte e escopo. (3) A inferência em escala domina, não o treino — onde focar a otimização. (4) Localização e timing (matriz elétrica) importam tanto quanto eficiência. (5) A solução é tripla: eficiência + descarbonização da oferta + flexibilidade da carga; nenhuma sozinha basta (Jevons). (6) Apelo profissional aos alunos: incorporar a energia como critério de mérito em ML, ao lado da acurácia — o paradigma 'Green AI'. Agradeça, abra para perguntas e remeta ao caderno de apoio (referências ABNT, banco de perguntas e questões de revisão) para estudo.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39E532-F47E-5E91-9335-135F1FC3AC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455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350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8KRZX5KL4fA" TargetMode="External"/><Relationship Id="rId3" Type="http://schemas.openxmlformats.org/officeDocument/2006/relationships/image" Target="../media/image2.jpeg"/><Relationship Id="rId7" Type="http://schemas.openxmlformats.org/officeDocument/2006/relationships/hyperlink" Target="https://www.youtube.com/watch?v=KF6sLCeBj0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GmU7SimFkpU" TargetMode="External"/><Relationship Id="rId11" Type="http://schemas.openxmlformats.org/officeDocument/2006/relationships/hyperlink" Target="https://www.youtube.com/watch?v=oHL1JpPTle0&amp;t=9s" TargetMode="External"/><Relationship Id="rId5" Type="http://schemas.openxmlformats.org/officeDocument/2006/relationships/hyperlink" Target="https://www.youtube.com/watch?v=RMK9AphfLco" TargetMode="External"/><Relationship Id="rId10" Type="http://schemas.openxmlformats.org/officeDocument/2006/relationships/hyperlink" Target="https://www.youtube.com/watch?v=WFR3lOm_xhE" TargetMode="External"/><Relationship Id="rId4" Type="http://schemas.openxmlformats.org/officeDocument/2006/relationships/hyperlink" Target="https://www.youtube.com/watch?v=GnArck115k4" TargetMode="External"/><Relationship Id="rId9" Type="http://schemas.openxmlformats.org/officeDocument/2006/relationships/hyperlink" Target="https://www.youtube.com/watch?v=v4moZjdA-NE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2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2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8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cNI4N3-FcEI" TargetMode="External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shorts/sHEyyL9mx4M" TargetMode="External"/><Relationship Id="rId5" Type="http://schemas.openxmlformats.org/officeDocument/2006/relationships/hyperlink" Target="https://www.youtube.com/shorts/E41X5s_BpgM" TargetMode="External"/><Relationship Id="rId4" Type="http://schemas.openxmlformats.org/officeDocument/2006/relationships/hyperlink" Target="https://www.youtube.com/watch?v=xXEcrIfhPJ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0E9F8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4997196"/>
            <a:ext cx="9144000" cy="14630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• AULA DE PÓS-GRADUAÇÃO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Impacto da Inteligência Artificial no Consumo de Energia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de energia, impactos na rede elétrica, data centers e sustentabilidade</a:t>
            </a:r>
            <a:endParaRPr lang="en-US" sz="1500" dirty="0"/>
          </a:p>
        </p:txBody>
      </p:sp>
      <p:sp>
        <p:nvSpPr>
          <p:cNvPr id="9001" name="pgnum1"/>
          <p:cNvSpPr/>
          <p:nvPr/>
        </p:nvSpPr>
        <p:spPr>
          <a:xfrm>
            <a:off x="8366760" y="4873752"/>
            <a:ext cx="320040" cy="2000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r"/>
            <a:r>
              <a:rPr lang="pt-BR" sz="850">
                <a:solidFill>
                  <a:srgbClr val="CADCFC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DA AULA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vamos percorrer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de energia, impactos na rede elétrica e sustentabilidade — em dez partes.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484632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Introdução: por que IA e energia agora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Conceitos de energia (Watt, Wh, GW vs TWh, rede)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 onde vem o consumo de energia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Data centers de IA (arquitetura, PUE/WUE/CUE)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Impacto energético dos modelos (treino, RAG, inferência)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Impactos no sistema elétrico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Emissões de carbono e sustentabilidade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Estratégias de mitigação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23560" y="1298448"/>
            <a:ext cx="3063240" cy="3364992"/>
          </a:xfrm>
          <a:prstGeom prst="roundRect">
            <a:avLst>
              <a:gd name="adj" fmla="val 1791"/>
            </a:avLst>
          </a:prstGeom>
          <a:solidFill>
            <a:srgbClr val="0B1F2A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788152" y="1444752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Partes finais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788152" y="1901952"/>
            <a:ext cx="2734056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Futuro da IA e da energia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AGI, demanda, flexibilidade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Conclusões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Aprendizados, desafios, pesquisa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Apoio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 ABNT, perguntas e 20 questões no caderno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612278-1F9A-AB1E-4E06-99C03E944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9">
            <a:extLst>
              <a:ext uri="{FF2B5EF4-FFF2-40B4-BE49-F238E27FC236}">
                <a16:creationId xmlns:a16="http://schemas.microsoft.com/office/drawing/2014/main" id="{B836E976-AD73-6293-95AC-4A69B16C8A30}"/>
              </a:ext>
            </a:extLst>
          </p:cNvPr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A39EFA6-8CDD-3398-B1FD-4E6DA28AA4A6}"/>
              </a:ext>
            </a:extLst>
          </p:cNvPr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750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2EFA25F9-A91E-D41E-E4C7-CE9804620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76202"/>
            <a:ext cx="8615680" cy="184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113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9F8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103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685800" y="2194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2514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Introdução: por que IA e energia, agora?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8046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histórica da IA e o salto dos modelos modernos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Escalonamento de parâmetros e de computação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fundacionais e LLMs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ponte entre IA, computação e eletricidade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principais números globais do setor</a:t>
            </a:r>
            <a:endParaRPr lang="en-US" sz="1150" dirty="0"/>
          </a:p>
        </p:txBody>
      </p:sp>
      <p:sp>
        <p:nvSpPr>
          <p:cNvPr id="9004" name="pgnum4"/>
          <p:cNvSpPr/>
          <p:nvPr/>
        </p:nvSpPr>
        <p:spPr>
          <a:xfrm>
            <a:off x="8366760" y="4873752"/>
            <a:ext cx="320040" cy="2000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r"/>
            <a:r>
              <a:rPr lang="pt-BR" sz="850">
                <a:solidFill>
                  <a:srgbClr val="CADCFC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 descr="History of AI (Artificial Intelligence)">
            <a:extLst>
              <a:ext uri="{FF2B5EF4-FFF2-40B4-BE49-F238E27FC236}">
                <a16:creationId xmlns:a16="http://schemas.microsoft.com/office/drawing/2014/main" id="{BBF6D89E-FF8C-EFE7-1571-9D5DAC66D0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0613" cy="5141595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2E3D21BC-EC0D-5CBE-51C9-A8E24B13F754}"/>
              </a:ext>
            </a:extLst>
          </p:cNvPr>
          <p:cNvSpPr txBox="1"/>
          <p:nvPr/>
        </p:nvSpPr>
        <p:spPr>
          <a:xfrm>
            <a:off x="0" y="4944294"/>
            <a:ext cx="86834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" dirty="0"/>
              <a:t>https://www.almabetter.com/bytes/tutorials/artificial-intelligence/history-of-ai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8405ABEF-4098-27BA-C264-4D7A09099AD2}"/>
              </a:ext>
            </a:extLst>
          </p:cNvPr>
          <p:cNvSpPr/>
          <p:nvPr/>
        </p:nvSpPr>
        <p:spPr>
          <a:xfrm>
            <a:off x="2451947" y="0"/>
            <a:ext cx="1076960" cy="2214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hlinkClick r:id="rId4"/>
            <a:extLst>
              <a:ext uri="{FF2B5EF4-FFF2-40B4-BE49-F238E27FC236}">
                <a16:creationId xmlns:a16="http://schemas.microsoft.com/office/drawing/2014/main" id="{951FCDDF-DA38-431C-FD9B-0F0A9B98061F}"/>
              </a:ext>
            </a:extLst>
          </p:cNvPr>
          <p:cNvSpPr/>
          <p:nvPr/>
        </p:nvSpPr>
        <p:spPr>
          <a:xfrm>
            <a:off x="2540000" y="155787"/>
            <a:ext cx="921173" cy="2214880"/>
          </a:xfrm>
          <a:prstGeom prst="rect">
            <a:avLst/>
          </a:prstGeom>
          <a:noFill/>
          <a:ln>
            <a:solidFill>
              <a:srgbClr val="414C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>
            <a:hlinkClick r:id="rId5"/>
            <a:extLst>
              <a:ext uri="{FF2B5EF4-FFF2-40B4-BE49-F238E27FC236}">
                <a16:creationId xmlns:a16="http://schemas.microsoft.com/office/drawing/2014/main" id="{563D485A-2850-2E43-7E71-C1E53BAE1854}"/>
              </a:ext>
            </a:extLst>
          </p:cNvPr>
          <p:cNvSpPr/>
          <p:nvPr/>
        </p:nvSpPr>
        <p:spPr>
          <a:xfrm>
            <a:off x="3549226" y="152400"/>
            <a:ext cx="921173" cy="2214880"/>
          </a:xfrm>
          <a:prstGeom prst="rect">
            <a:avLst/>
          </a:prstGeom>
          <a:noFill/>
          <a:ln>
            <a:solidFill>
              <a:srgbClr val="414C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>
            <a:hlinkClick r:id="rId6"/>
            <a:extLst>
              <a:ext uri="{FF2B5EF4-FFF2-40B4-BE49-F238E27FC236}">
                <a16:creationId xmlns:a16="http://schemas.microsoft.com/office/drawing/2014/main" id="{7F2B14C0-411B-FE4F-7B87-3E2B484B0702}"/>
              </a:ext>
            </a:extLst>
          </p:cNvPr>
          <p:cNvSpPr/>
          <p:nvPr/>
        </p:nvSpPr>
        <p:spPr>
          <a:xfrm>
            <a:off x="4570306" y="155787"/>
            <a:ext cx="921173" cy="2214880"/>
          </a:xfrm>
          <a:prstGeom prst="rect">
            <a:avLst/>
          </a:prstGeom>
          <a:noFill/>
          <a:ln>
            <a:solidFill>
              <a:srgbClr val="414C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 22">
            <a:hlinkClick r:id="rId7"/>
            <a:extLst>
              <a:ext uri="{FF2B5EF4-FFF2-40B4-BE49-F238E27FC236}">
                <a16:creationId xmlns:a16="http://schemas.microsoft.com/office/drawing/2014/main" id="{0D8C1ED8-B0C2-C7E8-2536-7E6B9A147DA1}"/>
              </a:ext>
            </a:extLst>
          </p:cNvPr>
          <p:cNvSpPr/>
          <p:nvPr/>
        </p:nvSpPr>
        <p:spPr>
          <a:xfrm>
            <a:off x="6600612" y="84667"/>
            <a:ext cx="1012615" cy="2214880"/>
          </a:xfrm>
          <a:prstGeom prst="rect">
            <a:avLst/>
          </a:prstGeom>
          <a:noFill/>
          <a:ln>
            <a:solidFill>
              <a:srgbClr val="414C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hlinkClick r:id="rId8"/>
            <a:extLst>
              <a:ext uri="{FF2B5EF4-FFF2-40B4-BE49-F238E27FC236}">
                <a16:creationId xmlns:a16="http://schemas.microsoft.com/office/drawing/2014/main" id="{95EED232-E5E2-68EE-B328-EDECBBA92D08}"/>
              </a:ext>
            </a:extLst>
          </p:cNvPr>
          <p:cNvSpPr/>
          <p:nvPr/>
        </p:nvSpPr>
        <p:spPr>
          <a:xfrm>
            <a:off x="7613227" y="299600"/>
            <a:ext cx="1012615" cy="2214880"/>
          </a:xfrm>
          <a:prstGeom prst="rect">
            <a:avLst/>
          </a:prstGeom>
          <a:noFill/>
          <a:ln>
            <a:solidFill>
              <a:srgbClr val="414C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hlinkClick r:id="rId9"/>
            <a:extLst>
              <a:ext uri="{FF2B5EF4-FFF2-40B4-BE49-F238E27FC236}">
                <a16:creationId xmlns:a16="http://schemas.microsoft.com/office/drawing/2014/main" id="{E46A2F8B-63E8-9955-E5F8-8030D2422713}"/>
              </a:ext>
            </a:extLst>
          </p:cNvPr>
          <p:cNvSpPr/>
          <p:nvPr/>
        </p:nvSpPr>
        <p:spPr>
          <a:xfrm>
            <a:off x="531706" y="2729414"/>
            <a:ext cx="1012615" cy="2214880"/>
          </a:xfrm>
          <a:prstGeom prst="rect">
            <a:avLst/>
          </a:prstGeom>
          <a:noFill/>
          <a:ln>
            <a:solidFill>
              <a:srgbClr val="414C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hlinkClick r:id="rId10"/>
            <a:extLst>
              <a:ext uri="{FF2B5EF4-FFF2-40B4-BE49-F238E27FC236}">
                <a16:creationId xmlns:a16="http://schemas.microsoft.com/office/drawing/2014/main" id="{54A14A9B-61CE-426A-01C4-714348109EFA}"/>
              </a:ext>
            </a:extLst>
          </p:cNvPr>
          <p:cNvSpPr/>
          <p:nvPr/>
        </p:nvSpPr>
        <p:spPr>
          <a:xfrm>
            <a:off x="3457784" y="2711271"/>
            <a:ext cx="1012615" cy="2214880"/>
          </a:xfrm>
          <a:prstGeom prst="rect">
            <a:avLst/>
          </a:prstGeom>
          <a:noFill/>
          <a:ln>
            <a:solidFill>
              <a:srgbClr val="414C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hlinkClick r:id="rId11"/>
            <a:extLst>
              <a:ext uri="{FF2B5EF4-FFF2-40B4-BE49-F238E27FC236}">
                <a16:creationId xmlns:a16="http://schemas.microsoft.com/office/drawing/2014/main" id="{1F61CB9F-20A8-0A61-2259-6D12A9A29A84}"/>
              </a:ext>
            </a:extLst>
          </p:cNvPr>
          <p:cNvSpPr/>
          <p:nvPr/>
        </p:nvSpPr>
        <p:spPr>
          <a:xfrm>
            <a:off x="4524584" y="2711271"/>
            <a:ext cx="1012615" cy="2214880"/>
          </a:xfrm>
          <a:prstGeom prst="rect">
            <a:avLst/>
          </a:prstGeom>
          <a:noFill/>
          <a:ln>
            <a:solidFill>
              <a:srgbClr val="414C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hlinkClick r:id="rId11"/>
            <a:extLst>
              <a:ext uri="{FF2B5EF4-FFF2-40B4-BE49-F238E27FC236}">
                <a16:creationId xmlns:a16="http://schemas.microsoft.com/office/drawing/2014/main" id="{14C15245-D44F-D843-13FA-2A330729E711}"/>
              </a:ext>
            </a:extLst>
          </p:cNvPr>
          <p:cNvSpPr/>
          <p:nvPr/>
        </p:nvSpPr>
        <p:spPr>
          <a:xfrm>
            <a:off x="7599679" y="2814080"/>
            <a:ext cx="1012615" cy="2214880"/>
          </a:xfrm>
          <a:prstGeom prst="rect">
            <a:avLst/>
          </a:prstGeom>
          <a:noFill/>
          <a:ln>
            <a:solidFill>
              <a:srgbClr val="414C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005" name="pgnum5"/>
          <p:cNvSpPr/>
          <p:nvPr/>
        </p:nvSpPr>
        <p:spPr>
          <a:xfrm>
            <a:off x="8366760" y="4873752"/>
            <a:ext cx="320040" cy="2000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r"/>
            <a:r>
              <a:rPr lang="pt-BR" sz="850">
                <a:solidFill>
                  <a:srgbClr val="64748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10"/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75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8DC7C684-AB17-8D3D-6872-340461E4B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182" y="1097279"/>
            <a:ext cx="4518457" cy="3739892"/>
          </a:xfrm>
          <a:prstGeom prst="rect">
            <a:avLst/>
          </a:prstGeom>
        </p:spPr>
      </p:pic>
      <p:sp>
        <p:nvSpPr>
          <p:cNvPr id="17" name="Text 2">
            <a:extLst>
              <a:ext uri="{FF2B5EF4-FFF2-40B4-BE49-F238E27FC236}">
                <a16:creationId xmlns:a16="http://schemas.microsoft.com/office/drawing/2014/main" id="{1A903433-28FA-33E2-1040-EA5D2ABF1004}"/>
              </a:ext>
            </a:extLst>
          </p:cNvPr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</a:t>
            </a:r>
            <a:r>
              <a:rPr lang="en-US" sz="2300" b="1" dirty="0" err="1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adoção</a:t>
            </a: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 IA 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2FF9B9-22C7-6D7E-26C6-B85F48397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10">
            <a:extLst>
              <a:ext uri="{FF2B5EF4-FFF2-40B4-BE49-F238E27FC236}">
                <a16:creationId xmlns:a16="http://schemas.microsoft.com/office/drawing/2014/main" id="{91A0C323-19CE-A1ED-31F7-F1EFB7D5F481}"/>
              </a:ext>
            </a:extLst>
          </p:cNvPr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D8A9F95-7696-4FB1-B889-D8749035A205}"/>
              </a:ext>
            </a:extLst>
          </p:cNvPr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750" dirty="0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025448DE-60E5-A4F0-CF00-B209B40226B0}"/>
              </a:ext>
            </a:extLst>
          </p:cNvPr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 err="1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Difusão</a:t>
            </a: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 IA pela </a:t>
            </a:r>
            <a:r>
              <a:rPr lang="en-US" sz="2300" b="1" dirty="0" err="1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economia</a:t>
            </a: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3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C601903-FA81-6C74-3536-6D7761D033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8826" y="901791"/>
            <a:ext cx="5488093" cy="365649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243AFA68-788B-84D3-01B5-4E137CA87DE2}"/>
              </a:ext>
            </a:extLst>
          </p:cNvPr>
          <p:cNvSpPr txBox="1"/>
          <p:nvPr/>
        </p:nvSpPr>
        <p:spPr>
          <a:xfrm>
            <a:off x="365760" y="4742452"/>
            <a:ext cx="744050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" dirty="0"/>
              <a:t>https://news.microsoft.com/source/latam/noticias-da-microsoft/relatorio-de-difusao-da-ia-onde-a-ia-e-mais-usada-desenvolvida-e-construida/?lang=pt-br</a:t>
            </a:r>
          </a:p>
        </p:txBody>
      </p:sp>
    </p:spTree>
    <p:extLst>
      <p:ext uri="{BB962C8B-B14F-4D97-AF65-F5344CB8AC3E}">
        <p14:creationId xmlns:p14="http://schemas.microsoft.com/office/powerpoint/2010/main" val="96018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FEE481-F151-AD13-E24F-9A1430331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10">
            <a:extLst>
              <a:ext uri="{FF2B5EF4-FFF2-40B4-BE49-F238E27FC236}">
                <a16:creationId xmlns:a16="http://schemas.microsoft.com/office/drawing/2014/main" id="{3F0963B2-E9DA-9566-F2AB-81F5AC17AF3B}"/>
              </a:ext>
            </a:extLst>
          </p:cNvPr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1A0931F-6CF5-95EC-7958-D9084B7E48E0}"/>
              </a:ext>
            </a:extLst>
          </p:cNvPr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750" dirty="0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A437E93C-2E2F-0855-BAFF-1CC36E066601}"/>
              </a:ext>
            </a:extLst>
          </p:cNvPr>
          <p:cNvSpPr/>
          <p:nvPr/>
        </p:nvSpPr>
        <p:spPr>
          <a:xfrm>
            <a:off x="457200" y="36169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 err="1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Difusão</a:t>
            </a: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 IA vs GDP (PIB)</a:t>
            </a:r>
            <a:endParaRPr lang="en-US" sz="23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BE062E0-AFA8-EA3E-9B0E-19E957AC6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29927"/>
            <a:ext cx="7728373" cy="4020000"/>
          </a:xfrm>
          <a:prstGeom prst="rect">
            <a:avLst/>
          </a:prstGeom>
        </p:spPr>
      </p:pic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6549D268-4C19-2C60-41C8-EF8E9C321D21}"/>
              </a:ext>
            </a:extLst>
          </p:cNvPr>
          <p:cNvCxnSpPr/>
          <p:nvPr/>
        </p:nvCxnSpPr>
        <p:spPr>
          <a:xfrm flipH="1" flipV="1">
            <a:off x="1713653" y="3698240"/>
            <a:ext cx="88054" cy="6366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FF0BF4C8-4E07-7B17-3CA6-876A5E82FB5B}"/>
              </a:ext>
            </a:extLst>
          </p:cNvPr>
          <p:cNvSpPr txBox="1"/>
          <p:nvPr/>
        </p:nvSpPr>
        <p:spPr>
          <a:xfrm>
            <a:off x="1713653" y="4213573"/>
            <a:ext cx="6356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Brasil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498BE84-DFB4-E173-F344-43BDCE97DD59}"/>
              </a:ext>
            </a:extLst>
          </p:cNvPr>
          <p:cNvSpPr txBox="1"/>
          <p:nvPr/>
        </p:nvSpPr>
        <p:spPr>
          <a:xfrm>
            <a:off x="365760" y="4957988"/>
            <a:ext cx="744050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" dirty="0"/>
              <a:t>https://news.microsoft.com/source/latam/noticias-da-microsoft/relatorio-de-difusao-da-ia-onde-a-ia-e-mais-usada-desenvolvida-e-construida/?lang=pt-br</a:t>
            </a:r>
          </a:p>
        </p:txBody>
      </p:sp>
    </p:spTree>
    <p:extLst>
      <p:ext uri="{BB962C8B-B14F-4D97-AF65-F5344CB8AC3E}">
        <p14:creationId xmlns:p14="http://schemas.microsoft.com/office/powerpoint/2010/main" val="126433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POR GPUS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motor de hardware: explosão na demanda por GPUs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75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4B43C614-6670-1A7F-4DCD-E446A69BA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149" y="914400"/>
            <a:ext cx="6446278" cy="37696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C9D654-BB72-8681-636E-FC3267FD3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F1B864AB-80FA-CD1D-C961-308EEEA0514B}"/>
              </a:ext>
            </a:extLst>
          </p:cNvPr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</a:t>
            </a:r>
            <a:r>
              <a:rPr lang="en-US" sz="2300" b="1" dirty="0" err="1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impacto</a:t>
            </a: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das </a:t>
            </a:r>
            <a:r>
              <a:rPr lang="en-US" sz="2300" b="1" dirty="0" err="1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escolhas</a:t>
            </a: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na </a:t>
            </a:r>
            <a:r>
              <a:rPr lang="en-US" sz="2300" b="1" dirty="0" err="1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economia</a:t>
            </a:r>
            <a:endParaRPr lang="en-US" sz="23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3921136C-8AE4-ECE0-705A-B4F0E0AD05D6}"/>
              </a:ext>
            </a:extLst>
          </p:cNvPr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D3A852CF-D48B-7B5D-5FE8-2383EA0FB68B}"/>
              </a:ext>
            </a:extLst>
          </p:cNvPr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75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B0D48B6-A076-3031-DF4C-9D0BAF52B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312" y="914400"/>
            <a:ext cx="5489093" cy="3806613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6B8BC5A6-A019-0D32-C0DF-40FE7A158A86}"/>
              </a:ext>
            </a:extLst>
          </p:cNvPr>
          <p:cNvSpPr txBox="1"/>
          <p:nvPr/>
        </p:nvSpPr>
        <p:spPr>
          <a:xfrm>
            <a:off x="365760" y="4957988"/>
            <a:ext cx="744050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" dirty="0"/>
              <a:t>https://news.microsoft.com/source/latam/noticias-da-microsoft/relatorio-de-difusao-da-ia-onde-a-ia-e-mais-usada-desenvolvida-e-construida/?lang=pt-br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4197F34-6A9B-E370-A0EA-C0D71970A6C3}"/>
              </a:ext>
            </a:extLst>
          </p:cNvPr>
          <p:cNvSpPr txBox="1"/>
          <p:nvPr/>
        </p:nvSpPr>
        <p:spPr>
          <a:xfrm>
            <a:off x="6211154" y="292505"/>
            <a:ext cx="280415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No final dos anos 1970, o governo sul-coreano identificou semicondutores como prioridade estratégica e fez parcerias com o setor privado para investir estrategicamente.</a:t>
            </a:r>
          </a:p>
          <a:p>
            <a:r>
              <a:rPr lang="pt-BR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A economia da Coreia do Sul disparou, crescendo 6,2% ao ano e dobrando o padrão de vida a cada onze anos. Em contraste, a economia filipina cresceu 1,8% ao ano, próximo à média mundial, permanecendo mais atrelada a commodities primárias, especialmente agricultura, mineração e serviços de terceirização.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56704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72A5F0-7572-72E0-F5E7-96051B543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458D5AFD-D82E-3E98-D14D-93A02E1D298E}"/>
              </a:ext>
            </a:extLst>
          </p:cNvPr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</a:t>
            </a:r>
            <a:r>
              <a:rPr lang="en-US" sz="2300" b="1" dirty="0" err="1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irá</a:t>
            </a: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300" b="1" dirty="0" err="1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colher</a:t>
            </a: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os </a:t>
            </a:r>
            <a:r>
              <a:rPr lang="en-US" sz="2300" b="1" dirty="0" err="1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investimentos</a:t>
            </a: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em IA?</a:t>
            </a:r>
            <a:endParaRPr lang="en-US" sz="23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3F55FBB9-8D34-5989-4419-1ABA5B019E48}"/>
              </a:ext>
            </a:extLst>
          </p:cNvPr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08C92EE9-C3B5-35C8-E703-F406FBC595C5}"/>
              </a:ext>
            </a:extLst>
          </p:cNvPr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75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869A2A3-AE2A-8EB6-089B-0C569A644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84" y="1095050"/>
            <a:ext cx="5356456" cy="3786368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CECECF68-B57F-B0C3-9FAD-A6F3F7BB79C7}"/>
              </a:ext>
            </a:extLst>
          </p:cNvPr>
          <p:cNvSpPr txBox="1"/>
          <p:nvPr/>
        </p:nvSpPr>
        <p:spPr>
          <a:xfrm>
            <a:off x="868680" y="4926544"/>
            <a:ext cx="717634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dirty="0"/>
              <a:t>https://unctad.org/news/ai-market-projected-hit-48-trillion-2033-emerging-dominant-frontier-technology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AFDA7482-9802-D457-B3BE-65E2FB2BDF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2027" y="1072103"/>
            <a:ext cx="4772660" cy="39374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89336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9F8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103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685800" y="2194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2514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Conceitos de energia que você vai precisar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8046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Potência (Watt) vs. energia (Watt-hora): a distinção central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escada de unidades: W, kW, MW, GW e Wh, kWh, MWh, TWh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(GW) vs. consumo (TWh) e fator de capacidade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Demanda, curva de carga e o equilíbrio da rede elétrica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Intensidade de carbono e intensidade energética da IA</a:t>
            </a:r>
            <a:endParaRPr lang="en-US" sz="1150" dirty="0"/>
          </a:p>
        </p:txBody>
      </p:sp>
      <p:sp>
        <p:nvSpPr>
          <p:cNvPr id="9012" name="pgnum12"/>
          <p:cNvSpPr/>
          <p:nvPr/>
        </p:nvSpPr>
        <p:spPr>
          <a:xfrm>
            <a:off x="8366760" y="4873752"/>
            <a:ext cx="320040" cy="2000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r"/>
            <a:r>
              <a:rPr lang="pt-BR" sz="850">
                <a:solidFill>
                  <a:srgbClr val="CADCFC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CONCEITO CENTRAL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Potência vs. energia: Watt vs. Watt-hora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confusão mais comum — e mais cara — do debate sobre IA e energia.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484632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Potência (Watt, W)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taxa instantânea de uso de energia — quão rápido se consome.</a:t>
            </a:r>
            <a:endParaRPr lang="en-US" sz="1400" dirty="0"/>
          </a:p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 (Watt-hora, Wh)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quantidade total consumida ao longo do tempo.</a:t>
            </a:r>
            <a:endParaRPr lang="en-US" sz="1400" dirty="0"/>
          </a:p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ponte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 = Potência × Tempo. Ex.: 1.000 W durante 1 h = 1.000 Wh = 1 kWh.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23560" y="1298448"/>
            <a:ext cx="3063240" cy="3364992"/>
          </a:xfrm>
          <a:prstGeom prst="roundRect">
            <a:avLst>
              <a:gd name="adj" fmla="val 1791"/>
            </a:avLst>
          </a:prstGeom>
          <a:solidFill>
            <a:srgbClr val="0B1F2A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788152" y="1444752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uma frase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788152" y="1901952"/>
            <a:ext cx="2734056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Watt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quão rápido (velocidade)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Watt-hora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quanto no total (distância)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de luz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paga por kWh (energia), não por W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ESCADA DE UNIDADES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escada de unidades de potência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degrau é 1.000× o anterior. Referências para calibrar a intuição.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773936"/>
            <a:ext cx="2596896" cy="1266444"/>
          </a:xfrm>
          <a:prstGeom prst="roundRect">
            <a:avLst>
              <a:gd name="adj" fmla="val 433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30352" y="1865376"/>
            <a:ext cx="2450592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W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48640" y="2470480"/>
            <a:ext cx="2414016" cy="531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lâmpada LED pequena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73552" y="1773936"/>
            <a:ext cx="2596896" cy="1266444"/>
          </a:xfrm>
          <a:prstGeom prst="roundRect">
            <a:avLst>
              <a:gd name="adj" fmla="val 433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346704" y="1865376"/>
            <a:ext cx="2450592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kW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3364992" y="2470480"/>
            <a:ext cx="2414016" cy="531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mil W • um forno micro-ondas / chaleira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89904" y="1773936"/>
            <a:ext cx="2596896" cy="1266444"/>
          </a:xfrm>
          <a:prstGeom prst="roundRect">
            <a:avLst>
              <a:gd name="adj" fmla="val 433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163056" y="1865376"/>
            <a:ext cx="2450592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MW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6181344" y="2470480"/>
            <a:ext cx="2414016" cy="531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mil kW • ~uma pequena fábrica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259836"/>
            <a:ext cx="2596896" cy="1266444"/>
          </a:xfrm>
          <a:prstGeom prst="roundRect">
            <a:avLst>
              <a:gd name="adj" fmla="val 433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0352" y="3351276"/>
            <a:ext cx="2450592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GW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548640" y="3956380"/>
            <a:ext cx="2414016" cy="531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mil MW • ~uma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cidade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média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73552" y="3259836"/>
            <a:ext cx="2596896" cy="1266444"/>
          </a:xfrm>
          <a:prstGeom prst="roundRect">
            <a:avLst>
              <a:gd name="adj" fmla="val 433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3346704" y="3351276"/>
            <a:ext cx="2450592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 MW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3364992" y="3956380"/>
            <a:ext cx="2414016" cy="531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data center de IA de médio porte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89904" y="3259836"/>
            <a:ext cx="2596896" cy="1266444"/>
          </a:xfrm>
          <a:prstGeom prst="roundRect">
            <a:avLst>
              <a:gd name="adj" fmla="val 433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163056" y="3351276"/>
            <a:ext cx="2450592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1–5 GW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6181344" y="3956380"/>
            <a:ext cx="2414016" cy="531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campus de IA (Stargate)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GW mede POTÊNCIA (capacidade instalada). Cada degrau multiplica por mil.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ESCADA DE UNIDADES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escada de unidades de energia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mesmas referências, agora em ENERGIA (acumulada ao longo do tempo).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773936"/>
            <a:ext cx="2596896" cy="1266444"/>
          </a:xfrm>
          <a:prstGeom prst="roundRect">
            <a:avLst>
              <a:gd name="adj" fmla="val 433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30352" y="1865376"/>
            <a:ext cx="2450592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Wh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48640" y="2470480"/>
            <a:ext cx="2414016" cy="531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~uma consulta de texto à IA (≈0,3 Wh)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73552" y="1773936"/>
            <a:ext cx="2596896" cy="1266444"/>
          </a:xfrm>
          <a:prstGeom prst="roundRect">
            <a:avLst>
              <a:gd name="adj" fmla="val 433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346704" y="1865376"/>
            <a:ext cx="2450592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kWh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3364992" y="2470480"/>
            <a:ext cx="2414016" cy="531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mil Wh • lavar uma carga de roupa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89904" y="1773936"/>
            <a:ext cx="2596896" cy="1266444"/>
          </a:xfrm>
          <a:prstGeom prst="roundRect">
            <a:avLst>
              <a:gd name="adj" fmla="val 433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163056" y="1865376"/>
            <a:ext cx="2450592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~200 kWh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6181344" y="2470480"/>
            <a:ext cx="2414016" cy="531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de luz mensal de uma casa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259836"/>
            <a:ext cx="2596896" cy="1266444"/>
          </a:xfrm>
          <a:prstGeom prst="roundRect">
            <a:avLst>
              <a:gd name="adj" fmla="val 433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0352" y="3351276"/>
            <a:ext cx="2450592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MWh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548640" y="3956380"/>
            <a:ext cx="2414016" cy="531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mil kWh • ~uma casa por ~5 meses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73552" y="3259836"/>
            <a:ext cx="2596896" cy="1266444"/>
          </a:xfrm>
          <a:prstGeom prst="roundRect">
            <a:avLst>
              <a:gd name="adj" fmla="val 433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3346704" y="3351276"/>
            <a:ext cx="2450592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GWh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3364992" y="3956380"/>
            <a:ext cx="2414016" cy="531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mil MWh • treino do GPT-3 ≈ 1,3 GWh</a:t>
            </a:r>
          </a:p>
          <a:p>
            <a:pPr algn="ctr">
              <a:lnSpc>
                <a:spcPct val="95000"/>
              </a:lnSpc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GPT-4 ≈ 50-70 GWh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89904" y="3259836"/>
            <a:ext cx="2596896" cy="1266444"/>
          </a:xfrm>
          <a:prstGeom prst="roundRect">
            <a:avLst>
              <a:gd name="adj" fmla="val 433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163056" y="3351276"/>
            <a:ext cx="2450592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TWh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6181344" y="3956380"/>
            <a:ext cx="2414016" cy="531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mil GWh • data centers globais: 415 TWh/ano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TWh mede ENERGIA (consumo ao longo do tempo). 1 TWh = 1 bilhão de kWh.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 = POTÊNCIA × TEMPO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Pondo os números para trabalhar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uma única fórmula, estimamos do consumo de uma GPU ao de um data center.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484632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resolvidos (Energia = Potência × Tempo)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de 1.000 W ligada 24 h = 24.000 Wh = 24 kWh/dia.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 de 100 MW × 24 h = 2.400 MWh = 2,4 GWh por dia.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bilhão de consultas/dia × 0,3 Wh = 300 MWh/dia ≈ 110 GWh/ano.</a:t>
            </a:r>
            <a:endParaRPr lang="en-US" sz="1400" dirty="0"/>
          </a:p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caminho inverso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anual ÷ horas do ano (8.760 h) = potência média.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415 TWh/ano ÷ 8.760 h ≈ 47 GW de potência média contínua.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DISTINÇÃO QUE CONFUNDE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Capacidade (GW) vs. consumo (TWh)</a:t>
            </a:r>
            <a:endParaRPr lang="en-US" sz="23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205990" y="1029955"/>
                <a:ext cx="8480809" cy="34013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spcBef>
                    <a:spcPts val="600"/>
                  </a:spcBef>
                  <a:spcAft>
                    <a:spcPts val="400"/>
                  </a:spcAft>
                  <a:buNone/>
                </a:pPr>
                <a:r>
                  <a:rPr lang="en-US" sz="1400" b="1" dirty="0">
                    <a:solidFill>
                      <a:srgbClr val="0E9F8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Duas grandezas diferentes</a:t>
                </a:r>
                <a:endParaRPr lang="en-US" sz="1400" dirty="0"/>
              </a:p>
              <a:p>
                <a:pPr marL="177800" indent="-177800">
                  <a:spcAft>
                    <a:spcPts val="700"/>
                  </a:spcAft>
                  <a:buSzPct val="100000"/>
                  <a:buChar char="•"/>
                </a:pPr>
                <a:r>
                  <a:rPr lang="en-US" sz="135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Capacidade (GW): a potência máxima que pode ser </a:t>
                </a:r>
                <a:r>
                  <a:rPr lang="en-US" sz="1350" dirty="0" err="1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entregue</a:t>
                </a:r>
                <a:r>
                  <a:rPr lang="en-US" sz="135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</a:p>
              <a:p>
                <a:pPr marL="177800" indent="-177800">
                  <a:spcAft>
                    <a:spcPts val="700"/>
                  </a:spcAft>
                  <a:buSzPct val="100000"/>
                  <a:buChar char="•"/>
                </a:pPr>
                <a:r>
                  <a:rPr lang="en-US" sz="1350" dirty="0" err="1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Consumo</a:t>
                </a:r>
                <a:r>
                  <a:rPr lang="en-US" sz="135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/energia (TWh): o quanto efetivamente flui ao longo do tempo.</a:t>
                </a:r>
                <a:endParaRPr lang="en-US" sz="1400" dirty="0"/>
              </a:p>
              <a:p>
                <a:pPr marL="0" indent="0">
                  <a:spcBef>
                    <a:spcPts val="600"/>
                  </a:spcBef>
                  <a:spcAft>
                    <a:spcPts val="400"/>
                  </a:spcAft>
                  <a:buNone/>
                </a:pPr>
                <a:r>
                  <a:rPr lang="en-US" sz="1400" b="1" dirty="0">
                    <a:solidFill>
                      <a:srgbClr val="0E9F8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Fator de </a:t>
                </a:r>
                <a:r>
                  <a:rPr lang="en-US" sz="1400" b="1" dirty="0" err="1">
                    <a:solidFill>
                      <a:srgbClr val="0E9F8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capacidade</a:t>
                </a:r>
                <a:endParaRPr lang="en-US" sz="1400" dirty="0"/>
              </a:p>
              <a:p>
                <a:pPr>
                  <a:spcAft>
                    <a:spcPts val="700"/>
                  </a:spcAft>
                  <a:buSzPct val="1000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35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pt-BR" sz="1350" i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𝐹𝑎𝑡𝑜𝑟</m:t>
                        </m:r>
                        <m:r>
                          <a:rPr lang="pt-BR" sz="1350" i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 </m:t>
                        </m:r>
                        <m:r>
                          <a:rPr lang="pt-BR" sz="1350" i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𝑑𝑒</m:t>
                        </m:r>
                        <m:r>
                          <a:rPr lang="pt-BR" sz="1350" i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 </m:t>
                        </m:r>
                        <m:r>
                          <a:rPr lang="pt-BR" sz="1350" i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𝐶𝑎𝑝𝑎𝑐𝑖𝑑𝑎𝑑𝑒</m:t>
                        </m:r>
                      </m:e>
                      <m:sub>
                        <m:r>
                          <a:rPr lang="pt-BR" sz="135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𝑚</m:t>
                        </m:r>
                        <m:r>
                          <a:rPr lang="pt-BR" sz="135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é</m:t>
                        </m:r>
                        <m:r>
                          <a:rPr lang="pt-BR" sz="135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𝑑𝑖𝑜</m:t>
                        </m:r>
                      </m:sub>
                    </m:sSub>
                    <m:r>
                      <a:rPr lang="en-US" sz="1350" i="1" smtClean="0">
                        <a:solidFill>
                          <a:srgbClr val="1E293B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=</m:t>
                    </m:r>
                    <m:f>
                      <m:fPr>
                        <m:ctrlPr>
                          <a:rPr lang="en-US" sz="135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fPr>
                      <m:num>
                        <m:r>
                          <a:rPr lang="pt-BR" sz="135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𝐸𝑛𝑒𝑟𝑔𝑖𝑎</m:t>
                        </m:r>
                        <m:r>
                          <a:rPr lang="pt-BR" sz="135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 </m:t>
                        </m:r>
                        <m:r>
                          <a:rPr lang="pt-BR" sz="135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𝐶𝑜𝑛𝑠𝑢𝑚𝑖𝑑𝑎</m:t>
                        </m:r>
                      </m:num>
                      <m:den>
                        <m:r>
                          <a:rPr lang="pt-BR" sz="135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𝐶𝑎𝑝𝑎𝑐𝑖𝑑𝑎𝑑𝑒</m:t>
                        </m:r>
                        <m:r>
                          <a:rPr lang="pt-BR" sz="135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 ∗</m:t>
                        </m:r>
                        <m:r>
                          <a:rPr lang="pt-BR" sz="135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𝑇𝑒𝑚𝑝𝑜</m:t>
                        </m:r>
                      </m:den>
                    </m:f>
                  </m:oMath>
                </a14:m>
                <a:r>
                  <a:rPr lang="en-US" sz="135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</a:p>
              <a:p>
                <a:pPr>
                  <a:spcAft>
                    <a:spcPts val="700"/>
                  </a:spcAft>
                  <a:buSzPct val="1000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350" i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pt-BR" sz="1350" i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𝐹𝑎𝑡𝑜𝑟</m:t>
                        </m:r>
                        <m:r>
                          <a:rPr lang="pt-BR" sz="1350" i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 </m:t>
                        </m:r>
                        <m:r>
                          <a:rPr lang="pt-BR" sz="1350" i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𝑑𝑒</m:t>
                        </m:r>
                        <m:r>
                          <a:rPr lang="pt-BR" sz="1350" i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 </m:t>
                        </m:r>
                        <m:r>
                          <a:rPr lang="pt-BR" sz="1350" i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𝐶𝑎𝑝𝑎𝑐𝑖𝑑𝑎𝑑𝑒</m:t>
                        </m:r>
                      </m:e>
                      <m:sub>
                        <m:r>
                          <a:rPr lang="pt-BR" sz="135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𝑖𝑛𝑠𝑡𝑎𝑛𝑡</m:t>
                        </m:r>
                        <m:r>
                          <a:rPr lang="pt-BR" sz="135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â</m:t>
                        </m:r>
                        <m:r>
                          <a:rPr lang="pt-BR" sz="135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𝑛𝑒𝑜</m:t>
                        </m:r>
                      </m:sub>
                    </m:sSub>
                    <m:r>
                      <a:rPr lang="en-US" sz="1350" i="1">
                        <a:solidFill>
                          <a:srgbClr val="1E293B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=</m:t>
                    </m:r>
                    <m:f>
                      <m:fPr>
                        <m:ctrlPr>
                          <a:rPr lang="en-US" sz="1350" i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fPr>
                      <m:num>
                        <m:r>
                          <a:rPr lang="pt-BR" sz="135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𝑃𝑜𝑡</m:t>
                        </m:r>
                        <m:r>
                          <a:rPr lang="pt-BR" sz="135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ê</m:t>
                        </m:r>
                        <m:r>
                          <a:rPr lang="pt-BR" sz="135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𝑛𝑐𝑖𝑎</m:t>
                        </m:r>
                        <m:r>
                          <a:rPr lang="pt-BR" sz="1350" i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 </m:t>
                        </m:r>
                        <m:r>
                          <a:rPr lang="pt-BR" sz="1350" i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𝐶𝑜𝑛𝑠𝑢𝑚𝑖𝑑𝑎</m:t>
                        </m:r>
                      </m:num>
                      <m:den>
                        <m:r>
                          <a:rPr lang="pt-BR" sz="1350" i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𝐶𝑎𝑝𝑎𝑐𝑖𝑑𝑎𝑑𝑒</m:t>
                        </m:r>
                      </m:den>
                    </m:f>
                  </m:oMath>
                </a14:m>
                <a:r>
                  <a:rPr lang="en-US" sz="135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</a:p>
              <a:p>
                <a:pPr>
                  <a:spcBef>
                    <a:spcPts val="600"/>
                  </a:spcBef>
                  <a:spcAft>
                    <a:spcPts val="400"/>
                  </a:spcAft>
                  <a:buSzPct val="100000"/>
                </a:pPr>
                <a:r>
                  <a:rPr lang="en-US" sz="1400" b="1" dirty="0">
                    <a:solidFill>
                      <a:srgbClr val="0E9F8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Valores </a:t>
                </a:r>
                <a:r>
                  <a:rPr lang="en-US" sz="1400" b="1" dirty="0" err="1">
                    <a:solidFill>
                      <a:srgbClr val="0E9F8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usuais</a:t>
                </a:r>
                <a:r>
                  <a:rPr lang="en-US" sz="1400" b="1" dirty="0">
                    <a:solidFill>
                      <a:srgbClr val="0E9F8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</a:t>
                </a:r>
              </a:p>
              <a:p>
                <a:pPr marL="285750" indent="-285750">
                  <a:spcAft>
                    <a:spcPts val="700"/>
                  </a:spcAft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135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Data center: alto (~70–90%) — opera quase o tempo todo, dia e </a:t>
                </a:r>
                <a:r>
                  <a:rPr lang="en-US" sz="1350" dirty="0" err="1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noite</a:t>
                </a:r>
                <a:r>
                  <a:rPr lang="en-US" sz="135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</a:t>
                </a:r>
              </a:p>
              <a:p>
                <a:pPr marL="285750" indent="-285750">
                  <a:spcAft>
                    <a:spcPts val="700"/>
                  </a:spcAft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1350" dirty="0" err="1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Eólica</a:t>
                </a:r>
                <a:r>
                  <a:rPr lang="en-US" sz="135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~25–45% — </a:t>
                </a:r>
                <a:r>
                  <a:rPr lang="en-US" sz="1350" dirty="0" err="1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dependem</a:t>
                </a:r>
                <a:r>
                  <a:rPr lang="en-US" sz="135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do </a:t>
                </a:r>
                <a:r>
                  <a:rPr lang="en-US" sz="1350" dirty="0" err="1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recurso</a:t>
                </a:r>
                <a:r>
                  <a:rPr lang="en-US" sz="135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e da </a:t>
                </a:r>
                <a:r>
                  <a:rPr lang="en-US" sz="1350" dirty="0" err="1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época</a:t>
                </a:r>
                <a:endParaRPr lang="en-US" sz="135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pPr marL="285750" indent="-285750">
                  <a:spcAft>
                    <a:spcPts val="700"/>
                  </a:spcAft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135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Solar: baixo (~15–25%); </a:t>
                </a:r>
              </a:p>
              <a:p>
                <a:pPr marL="285750" indent="-285750">
                  <a:spcAft>
                    <a:spcPts val="700"/>
                  </a:spcAft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135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Por isso 1 GW de data center exige MUITO mais que 1 GW de solar para ser suprido.</a:t>
                </a:r>
                <a:endParaRPr lang="en-US" sz="1400" dirty="0"/>
              </a:p>
            </p:txBody>
          </p:sp>
        </mc:Choice>
        <mc:Fallback xmlns=""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990" y="1029955"/>
                <a:ext cx="8480809" cy="3401368"/>
              </a:xfrm>
              <a:prstGeom prst="rect">
                <a:avLst/>
              </a:prstGeom>
              <a:blipFill>
                <a:blip r:embed="rId3"/>
                <a:stretch>
                  <a:fillRect l="-1294" t="-1613" b="-4480"/>
                </a:stretch>
              </a:blipFill>
              <a:ln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15"/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E CURVA DE CARGA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Demanda, carga e o perfil da IA</a:t>
            </a:r>
            <a:endParaRPr lang="en-US" sz="23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258635852"/>
              </p:ext>
            </p:extLst>
          </p:nvPr>
        </p:nvGraphicFramePr>
        <p:xfrm>
          <a:off x="457200" y="1298448"/>
          <a:ext cx="6446520" cy="32598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REDE ELÉTRICA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rede elétrica em um slide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4B0B2A61-2F04-0FCF-7B2A-863FA68F9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88396"/>
            <a:ext cx="7472454" cy="407920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D9A3D5-C237-094C-852F-141012DB4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22C2169-C094-B580-742A-141713243908}"/>
              </a:ext>
            </a:extLst>
          </p:cNvPr>
          <p:cNvSpPr/>
          <p:nvPr/>
        </p:nvSpPr>
        <p:spPr>
          <a:xfrm>
            <a:off x="457200" y="34747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AE35F8F-BAFF-90FD-A239-49990CC9051E}"/>
              </a:ext>
            </a:extLst>
          </p:cNvPr>
          <p:cNvSpPr/>
          <p:nvPr/>
        </p:nvSpPr>
        <p:spPr>
          <a:xfrm>
            <a:off x="658368" y="274320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LIGANDO ENERGIA E IMPACTO</a:t>
            </a:r>
            <a:endParaRPr lang="en-US" sz="10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02B141B-F962-95D5-5F59-AD21D95ABDDE}"/>
              </a:ext>
            </a:extLst>
          </p:cNvPr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 err="1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Intensidade</a:t>
            </a: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300" b="1" dirty="0" err="1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energética</a:t>
            </a:r>
            <a:endParaRPr lang="en-US" sz="2300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E34C3EFA-C7BF-A063-D168-F03E120B5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958487"/>
            <a:ext cx="7354389" cy="4014749"/>
          </a:xfrm>
          <a:prstGeom prst="rect">
            <a:avLst/>
          </a:prstGeom>
        </p:spPr>
      </p:pic>
      <p:sp>
        <p:nvSpPr>
          <p:cNvPr id="9020" name="pgnum20"/>
          <p:cNvSpPr/>
          <p:nvPr/>
        </p:nvSpPr>
        <p:spPr>
          <a:xfrm>
            <a:off x="8366760" y="4873752"/>
            <a:ext cx="320040" cy="2000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r"/>
            <a:r>
              <a:rPr lang="pt-BR" sz="850">
                <a:solidFill>
                  <a:srgbClr val="64748B"/>
                </a:solidFill>
                <a:latin typeface="Calibr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8809472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LIGANDO ENERGIA E IMPACTO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 err="1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Intensidade</a:t>
            </a: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 carbono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57200" y="977767"/>
            <a:ext cx="4475901" cy="557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intensidade de carbono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Emissões = energia × intensidade da matriz (gCO₂/kWh).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750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EED223F5-24FD-3B11-2574-24764307F8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87" y="1535392"/>
            <a:ext cx="4173943" cy="1723188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9D7981D0-CA76-1839-3746-3BFAAFA82E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86" y="3356483"/>
            <a:ext cx="4294812" cy="1787017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0F43E379-EE58-6615-966B-8F0F99F1CF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9397" y="1535391"/>
            <a:ext cx="4083833" cy="1723188"/>
          </a:xfrm>
          <a:prstGeom prst="rect">
            <a:avLst/>
          </a:prstGeom>
        </p:spPr>
      </p:pic>
      <p:sp>
        <p:nvSpPr>
          <p:cNvPr id="20" name="CaixaDeTexto 19">
            <a:extLst>
              <a:ext uri="{FF2B5EF4-FFF2-40B4-BE49-F238E27FC236}">
                <a16:creationId xmlns:a16="http://schemas.microsoft.com/office/drawing/2014/main" id="{BD0FEA31-FF55-E33D-B8C9-C1D179687B60}"/>
              </a:ext>
            </a:extLst>
          </p:cNvPr>
          <p:cNvSpPr txBox="1"/>
          <p:nvPr/>
        </p:nvSpPr>
        <p:spPr>
          <a:xfrm>
            <a:off x="4756004" y="3503795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" dirty="0"/>
              <a:t>https://ember-energy.org/data/electricity-data-explorer/?entity=Brazil&amp;metric=pct_share&amp;chart=single_year&amp;mode=stacked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F39CF-7E22-232E-E8A3-8964F8468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9">
            <a:extLst>
              <a:ext uri="{FF2B5EF4-FFF2-40B4-BE49-F238E27FC236}">
                <a16:creationId xmlns:a16="http://schemas.microsoft.com/office/drawing/2014/main" id="{0196FB5A-F7BE-5B2A-F16A-013E78C55B01}"/>
              </a:ext>
            </a:extLst>
          </p:cNvPr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B23DD1D-6ED3-6832-C713-259C52A8F1B8}"/>
              </a:ext>
            </a:extLst>
          </p:cNvPr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750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D4A5084D-1D5B-52F0-CA79-810BA97FD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833707" cy="5131655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E7713C65-929B-FAA1-C920-5F17FC1FF7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7768" y="933090"/>
            <a:ext cx="4847858" cy="302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7463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ESTUDAR ISTO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estudar o consumo energético da IA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750" dirty="0"/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EDB6CDF6-0547-A14A-49A2-AB3B336423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584" y="1033276"/>
            <a:ext cx="3602936" cy="3790185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2FFEBE0C-B505-C197-C635-0133596A09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5254" y="894766"/>
            <a:ext cx="4757360" cy="3992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5638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F6F0C-DF9B-B045-85E9-5C7F706DA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6C175A1-B939-6668-F218-9E86080327A3}"/>
              </a:ext>
            </a:extLst>
          </p:cNvPr>
          <p:cNvSpPr/>
          <p:nvPr/>
        </p:nvSpPr>
        <p:spPr>
          <a:xfrm>
            <a:off x="457200" y="34747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F9F5EF5-B0B6-F313-89D4-59AC6A080133}"/>
              </a:ext>
            </a:extLst>
          </p:cNvPr>
          <p:cNvSpPr/>
          <p:nvPr/>
        </p:nvSpPr>
        <p:spPr>
          <a:xfrm>
            <a:off x="658368" y="274320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ESTUDAR ISTO</a:t>
            </a:r>
            <a:endParaRPr lang="en-US" sz="10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145157F-DDA9-1474-FF87-5E546BBA8FD3}"/>
              </a:ext>
            </a:extLst>
          </p:cNvPr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estudar o consumo energético da IA</a:t>
            </a:r>
            <a:endParaRPr lang="en-US" sz="23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962B583D-D7DE-A4BE-27E2-635E659189CA}"/>
              </a:ext>
            </a:extLst>
          </p:cNvPr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5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151FD602-646B-4C65-F60C-6428B2461C1E}"/>
              </a:ext>
            </a:extLst>
          </p:cNvPr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75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6C5E6ED-4BD6-1F73-3FEC-AAC67150C8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837" y="1144551"/>
            <a:ext cx="6002296" cy="3418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7491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A84A3-B6A6-C122-35EA-87694A952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0D54CC0-54F2-24E7-326F-C034388F9300}"/>
              </a:ext>
            </a:extLst>
          </p:cNvPr>
          <p:cNvSpPr/>
          <p:nvPr/>
        </p:nvSpPr>
        <p:spPr>
          <a:xfrm>
            <a:off x="457200" y="34747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D9553FF-504C-CA37-E0DD-6FA4136E606C}"/>
              </a:ext>
            </a:extLst>
          </p:cNvPr>
          <p:cNvSpPr/>
          <p:nvPr/>
        </p:nvSpPr>
        <p:spPr>
          <a:xfrm>
            <a:off x="658368" y="274320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ESTUDAR ISTO</a:t>
            </a:r>
            <a:endParaRPr lang="en-US" sz="10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F20BC33-499E-A06D-5A06-C72FC36126D3}"/>
              </a:ext>
            </a:extLst>
          </p:cNvPr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estudar o consumo energético da IA</a:t>
            </a:r>
            <a:endParaRPr lang="en-US" sz="23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38CF6F9E-3DF9-1A3F-9F2B-784032B5CD01}"/>
              </a:ext>
            </a:extLst>
          </p:cNvPr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5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A41103C-14DD-9291-7002-13C0795CD864}"/>
              </a:ext>
            </a:extLst>
          </p:cNvPr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75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3045D6A-0A1D-C182-AE40-6C87BA9416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195" y="1243584"/>
            <a:ext cx="6630325" cy="313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7286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155B7-1256-6439-3F88-86C79948E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2FAF4A3-E185-323B-7C81-04E356887124}"/>
              </a:ext>
            </a:extLst>
          </p:cNvPr>
          <p:cNvSpPr/>
          <p:nvPr/>
        </p:nvSpPr>
        <p:spPr>
          <a:xfrm>
            <a:off x="457200" y="34747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10AF855-1BDE-60C1-DD8E-A2181F626DE2}"/>
              </a:ext>
            </a:extLst>
          </p:cNvPr>
          <p:cNvSpPr/>
          <p:nvPr/>
        </p:nvSpPr>
        <p:spPr>
          <a:xfrm>
            <a:off x="658368" y="274320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ESTUDAR ISTO</a:t>
            </a:r>
            <a:endParaRPr lang="en-US" sz="10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F17520A-459A-B90E-7F29-C4FA32EF96CC}"/>
              </a:ext>
            </a:extLst>
          </p:cNvPr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estudar o consumo energético da IA</a:t>
            </a:r>
            <a:endParaRPr lang="en-US" sz="2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6E91C78-23D8-B0B8-465D-6E90DE947EF0}"/>
              </a:ext>
            </a:extLst>
          </p:cNvPr>
          <p:cNvSpPr/>
          <p:nvPr/>
        </p:nvSpPr>
        <p:spPr>
          <a:xfrm>
            <a:off x="457200" y="12984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razões que tornam o tema central para engenharia, política pública e ciência de dados.</a:t>
            </a:r>
            <a:endParaRPr lang="en-US" sz="12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4676CC3-FE7C-1877-0C4B-67F188A44D44}"/>
              </a:ext>
            </a:extLst>
          </p:cNvPr>
          <p:cNvSpPr/>
          <p:nvPr/>
        </p:nvSpPr>
        <p:spPr>
          <a:xfrm>
            <a:off x="457200" y="1773936"/>
            <a:ext cx="2596896" cy="1335024"/>
          </a:xfrm>
          <a:prstGeom prst="roundRect">
            <a:avLst>
              <a:gd name="adj" fmla="val 4110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6F208F2-5414-FF2D-5A33-872BB3DCC286}"/>
              </a:ext>
            </a:extLst>
          </p:cNvPr>
          <p:cNvSpPr/>
          <p:nvPr/>
        </p:nvSpPr>
        <p:spPr>
          <a:xfrm>
            <a:off x="530352" y="1865376"/>
            <a:ext cx="24505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~10%</a:t>
            </a:r>
            <a:endParaRPr lang="en-US" sz="2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6B688C8-43E2-5606-D0A1-A31A27C2BB05}"/>
              </a:ext>
            </a:extLst>
          </p:cNvPr>
          <p:cNvSpPr/>
          <p:nvPr/>
        </p:nvSpPr>
        <p:spPr>
          <a:xfrm>
            <a:off x="548640" y="2508199"/>
            <a:ext cx="2414016" cy="560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crescimento global da demanda elétrica até 2030 virá de data centers (IEA)</a:t>
            </a:r>
            <a:endParaRPr lang="en-US" sz="9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841946F-D016-7FA5-4F5C-150F492CD4A4}"/>
              </a:ext>
            </a:extLst>
          </p:cNvPr>
          <p:cNvSpPr/>
          <p:nvPr/>
        </p:nvSpPr>
        <p:spPr>
          <a:xfrm>
            <a:off x="3273552" y="1773936"/>
            <a:ext cx="2596896" cy="1335024"/>
          </a:xfrm>
          <a:prstGeom prst="roundRect">
            <a:avLst>
              <a:gd name="adj" fmla="val 4110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7357634-D674-2551-A335-8138EF779372}"/>
              </a:ext>
            </a:extLst>
          </p:cNvPr>
          <p:cNvSpPr/>
          <p:nvPr/>
        </p:nvSpPr>
        <p:spPr>
          <a:xfrm>
            <a:off x="3346704" y="1865376"/>
            <a:ext cx="24505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até 50%</a:t>
            </a:r>
            <a:endParaRPr lang="en-US" sz="25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C0989F8-9C81-0ECC-89F0-29678494372A}"/>
              </a:ext>
            </a:extLst>
          </p:cNvPr>
          <p:cNvSpPr/>
          <p:nvPr/>
        </p:nvSpPr>
        <p:spPr>
          <a:xfrm>
            <a:off x="3364992" y="2508199"/>
            <a:ext cx="2414016" cy="560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crescimento da demanda elétrica dos EUA atribuível a data centers (IEA)</a:t>
            </a:r>
            <a:endParaRPr lang="en-US" sz="9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CBA1672-8972-649E-5889-36B89D8B3452}"/>
              </a:ext>
            </a:extLst>
          </p:cNvPr>
          <p:cNvSpPr/>
          <p:nvPr/>
        </p:nvSpPr>
        <p:spPr>
          <a:xfrm>
            <a:off x="6089904" y="1773936"/>
            <a:ext cx="2596896" cy="1335024"/>
          </a:xfrm>
          <a:prstGeom prst="roundRect">
            <a:avLst>
              <a:gd name="adj" fmla="val 4110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73045B1-0BD7-97FB-9C64-49782E64A552}"/>
              </a:ext>
            </a:extLst>
          </p:cNvPr>
          <p:cNvSpPr/>
          <p:nvPr/>
        </p:nvSpPr>
        <p:spPr>
          <a:xfrm>
            <a:off x="6163056" y="1865376"/>
            <a:ext cx="24505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4,4%</a:t>
            </a:r>
            <a:endParaRPr lang="en-US" sz="25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9B85511-7D88-186F-FF88-A006B7780ADE}"/>
              </a:ext>
            </a:extLst>
          </p:cNvPr>
          <p:cNvSpPr/>
          <p:nvPr/>
        </p:nvSpPr>
        <p:spPr>
          <a:xfrm>
            <a:off x="6181344" y="2508199"/>
            <a:ext cx="2414016" cy="560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eletricidade dos EUA já foi para data centers em 2023 (LBNL: 176 TWh)</a:t>
            </a:r>
            <a:endParaRPr lang="en-US" sz="95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FA81D5A5-9F52-76BE-4908-CD3D81237B56}"/>
              </a:ext>
            </a:extLst>
          </p:cNvPr>
          <p:cNvSpPr/>
          <p:nvPr/>
        </p:nvSpPr>
        <p:spPr>
          <a:xfrm>
            <a:off x="457200" y="3328416"/>
            <a:ext cx="2596896" cy="1335024"/>
          </a:xfrm>
          <a:prstGeom prst="roundRect">
            <a:avLst>
              <a:gd name="adj" fmla="val 4110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1E419D8-F254-25FD-8B3B-42A862E7F64F}"/>
              </a:ext>
            </a:extLst>
          </p:cNvPr>
          <p:cNvSpPr/>
          <p:nvPr/>
        </p:nvSpPr>
        <p:spPr>
          <a:xfrm>
            <a:off x="530352" y="3419856"/>
            <a:ext cx="24505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189 Mt</a:t>
            </a:r>
            <a:endParaRPr lang="en-US" sz="25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7F5DDAD-0864-80A4-554E-B75C29094D84}"/>
              </a:ext>
            </a:extLst>
          </p:cNvPr>
          <p:cNvSpPr/>
          <p:nvPr/>
        </p:nvSpPr>
        <p:spPr>
          <a:xfrm>
            <a:off x="548640" y="4062679"/>
            <a:ext cx="2414016" cy="560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CO₂e estimados para data centers em 2025 (UNU-INWEH)</a:t>
            </a:r>
            <a:endParaRPr lang="en-US" sz="95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9A29494A-FDBD-E007-EADC-49732238B648}"/>
              </a:ext>
            </a:extLst>
          </p:cNvPr>
          <p:cNvSpPr/>
          <p:nvPr/>
        </p:nvSpPr>
        <p:spPr>
          <a:xfrm>
            <a:off x="3273552" y="3328416"/>
            <a:ext cx="2596896" cy="1335024"/>
          </a:xfrm>
          <a:prstGeom prst="roundRect">
            <a:avLst>
              <a:gd name="adj" fmla="val 4110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A03AD99-9C53-B455-EEBF-E19E0C9F9E68}"/>
              </a:ext>
            </a:extLst>
          </p:cNvPr>
          <p:cNvSpPr/>
          <p:nvPr/>
        </p:nvSpPr>
        <p:spPr>
          <a:xfrm>
            <a:off x="3346704" y="3419856"/>
            <a:ext cx="24505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30×</a:t>
            </a:r>
            <a:endParaRPr lang="en-US" sz="25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A1BBE4E-FFB1-C610-DF7B-4392BB2E264D}"/>
              </a:ext>
            </a:extLst>
          </p:cNvPr>
          <p:cNvSpPr/>
          <p:nvPr/>
        </p:nvSpPr>
        <p:spPr>
          <a:xfrm>
            <a:off x="3364992" y="4062679"/>
            <a:ext cx="2414016" cy="560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projetado da demanda de IA nos EUA até 2035: 4→123 GW (Deloitte)</a:t>
            </a:r>
            <a:endParaRPr lang="en-US" sz="95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A77B685F-80C0-859D-CB1D-BBABA9778A19}"/>
              </a:ext>
            </a:extLst>
          </p:cNvPr>
          <p:cNvSpPr/>
          <p:nvPr/>
        </p:nvSpPr>
        <p:spPr>
          <a:xfrm>
            <a:off x="6089904" y="3328416"/>
            <a:ext cx="2596896" cy="1335024"/>
          </a:xfrm>
          <a:prstGeom prst="roundRect">
            <a:avLst>
              <a:gd name="adj" fmla="val 4110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13A22C7D-EB74-399C-DF91-C80FED7AE8A0}"/>
              </a:ext>
            </a:extLst>
          </p:cNvPr>
          <p:cNvSpPr/>
          <p:nvPr/>
        </p:nvSpPr>
        <p:spPr>
          <a:xfrm>
            <a:off x="6163056" y="3419856"/>
            <a:ext cx="24505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~20%</a:t>
            </a:r>
            <a:endParaRPr lang="en-US" sz="25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85F4FB5-12ED-7E28-E368-27334E0CA077}"/>
              </a:ext>
            </a:extLst>
          </p:cNvPr>
          <p:cNvSpPr/>
          <p:nvPr/>
        </p:nvSpPr>
        <p:spPr>
          <a:xfrm>
            <a:off x="6181344" y="4062679"/>
            <a:ext cx="2414016" cy="560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projetos de data center em risco de atraso por restrições de rede (IEA)</a:t>
            </a:r>
            <a:endParaRPr lang="en-US" sz="95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8881F3BA-71D1-6858-9EA6-B87D224871FC}"/>
              </a:ext>
            </a:extLst>
          </p:cNvPr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5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B919B0B6-AB95-4596-3344-31F12E2301D1}"/>
              </a:ext>
            </a:extLst>
          </p:cNvPr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27771866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9F8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103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685800" y="2194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2514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onde vem o consumo de energia?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8046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Chips, memória, comunicação, armazenamento e sistemas auxiliares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Métricas: TDP, FLOPs/W e Performance per Watt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computacional e o 'memory wall'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chip ao rack: um balanço energético numérico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Divergências entre fontes na composição do consumo</a:t>
            </a:r>
            <a:endParaRPr lang="en-US" sz="1150" dirty="0"/>
          </a:p>
        </p:txBody>
      </p:sp>
      <p:sp>
        <p:nvSpPr>
          <p:cNvPr id="9027" name="pgnum27"/>
          <p:cNvSpPr/>
          <p:nvPr/>
        </p:nvSpPr>
        <p:spPr>
          <a:xfrm>
            <a:off x="8366760" y="4873752"/>
            <a:ext cx="320040" cy="2000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r"/>
            <a:r>
              <a:rPr lang="pt-BR" sz="850">
                <a:solidFill>
                  <a:srgbClr val="CADCFC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625" y="1021557"/>
            <a:ext cx="8286750" cy="369331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71500" y="428625"/>
            <a:ext cx="8551069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025" b="1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BALANÇO DO DATA CENTER MODERNO</a:t>
            </a:r>
            <a:endParaRPr sz="1350"/>
          </a:p>
        </p:txBody>
      </p:sp>
      <p:sp>
        <p:nvSpPr>
          <p:cNvPr id="94" name="Google Shape;94;p14"/>
          <p:cNvSpPr/>
          <p:nvPr/>
        </p:nvSpPr>
        <p:spPr>
          <a:xfrm>
            <a:off x="428625" y="428626"/>
            <a:ext cx="42863" cy="307181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428625" y="4182666"/>
            <a:ext cx="82867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11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 objetivo do </a:t>
            </a:r>
            <a:r>
              <a:rPr lang="en-US" sz="1125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PUE (Power Usage Effectiveness)</a:t>
            </a:r>
            <a:r>
              <a:rPr lang="en-US" sz="11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é reduzir as fatias de suporte para maximizar a energia em TI.</a:t>
            </a:r>
            <a:endParaRPr sz="1350"/>
          </a:p>
        </p:txBody>
      </p:sp>
      <p:sp>
        <p:nvSpPr>
          <p:cNvPr id="9028" name="pgnum28"/>
          <p:cNvSpPr/>
          <p:nvPr/>
        </p:nvSpPr>
        <p:spPr>
          <a:xfrm>
            <a:off x="8366760" y="4873752"/>
            <a:ext cx="320040" cy="2000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r"/>
            <a:r>
              <a:rPr lang="pt-BR" sz="850">
                <a:solidFill>
                  <a:srgbClr val="64748B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625" y="1464469"/>
            <a:ext cx="2619300" cy="2807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62238" y="1464469"/>
            <a:ext cx="2619412" cy="2807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5963" y="1464469"/>
            <a:ext cx="2619300" cy="2807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1519" y="1793081"/>
            <a:ext cx="357188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555131" y="1793081"/>
            <a:ext cx="314325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8856" y="1793081"/>
            <a:ext cx="314325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571500" y="428625"/>
            <a:ext cx="8551069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025" b="1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O CUSTO DA MOVIMENTAÇÃO DE DADOS</a:t>
            </a:r>
            <a:endParaRPr sz="1350"/>
          </a:p>
        </p:txBody>
      </p:sp>
      <p:sp>
        <p:nvSpPr>
          <p:cNvPr id="123" name="Google Shape;123;p16"/>
          <p:cNvSpPr/>
          <p:nvPr/>
        </p:nvSpPr>
        <p:spPr>
          <a:xfrm>
            <a:off x="428625" y="428626"/>
            <a:ext cx="42863" cy="307181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721519" y="2321719"/>
            <a:ext cx="2135189" cy="22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463" b="1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Memória</a:t>
            </a:r>
            <a:endParaRPr sz="1350"/>
          </a:p>
        </p:txBody>
      </p:sp>
      <p:sp>
        <p:nvSpPr>
          <p:cNvPr id="125" name="Google Shape;125;p16"/>
          <p:cNvSpPr txBox="1"/>
          <p:nvPr/>
        </p:nvSpPr>
        <p:spPr>
          <a:xfrm>
            <a:off x="721519" y="2693194"/>
            <a:ext cx="2033513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1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Até </a:t>
            </a:r>
            <a:r>
              <a:rPr lang="en-US" sz="1125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30% da potência</a:t>
            </a:r>
            <a:r>
              <a:rPr lang="en-US" sz="11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do servidor. A correlação entre uso de memória e potência da GPU é de ρ ≈ 0,95.</a:t>
            </a:r>
            <a:endParaRPr sz="1350"/>
          </a:p>
        </p:txBody>
      </p:sp>
      <p:sp>
        <p:nvSpPr>
          <p:cNvPr id="126" name="Google Shape;126;p16"/>
          <p:cNvSpPr txBox="1"/>
          <p:nvPr/>
        </p:nvSpPr>
        <p:spPr>
          <a:xfrm>
            <a:off x="3555131" y="2321719"/>
            <a:ext cx="2135306" cy="22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463" b="1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Comunicação</a:t>
            </a:r>
            <a:endParaRPr sz="1350"/>
          </a:p>
        </p:txBody>
      </p:sp>
      <p:sp>
        <p:nvSpPr>
          <p:cNvPr id="127" name="Google Shape;127;p16"/>
          <p:cNvSpPr txBox="1"/>
          <p:nvPr/>
        </p:nvSpPr>
        <p:spPr>
          <a:xfrm>
            <a:off x="3555132" y="2693194"/>
            <a:ext cx="2033624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1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Switches operam com 80-90% da potência mesmo ociosos. Placas de rede podem consumir 400W.</a:t>
            </a:r>
            <a:endParaRPr sz="1350"/>
          </a:p>
        </p:txBody>
      </p:sp>
      <p:sp>
        <p:nvSpPr>
          <p:cNvPr id="128" name="Google Shape;128;p16"/>
          <p:cNvSpPr txBox="1"/>
          <p:nvPr/>
        </p:nvSpPr>
        <p:spPr>
          <a:xfrm>
            <a:off x="6388856" y="2321719"/>
            <a:ext cx="2135189" cy="22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463" b="1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Armazenamento</a:t>
            </a:r>
            <a:endParaRPr sz="1350"/>
          </a:p>
        </p:txBody>
      </p:sp>
      <p:sp>
        <p:nvSpPr>
          <p:cNvPr id="129" name="Google Shape;129;p16"/>
          <p:cNvSpPr txBox="1"/>
          <p:nvPr/>
        </p:nvSpPr>
        <p:spPr>
          <a:xfrm>
            <a:off x="6388856" y="2693194"/>
            <a:ext cx="2033513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1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Checkpoints de treino geram picos de E/S. Em DCs intensivos, o storage representa 40% do consumo.</a:t>
            </a:r>
            <a:endParaRPr sz="1350"/>
          </a:p>
        </p:txBody>
      </p:sp>
      <p:sp>
        <p:nvSpPr>
          <p:cNvPr id="9029" name="pgnum29"/>
          <p:cNvSpPr/>
          <p:nvPr/>
        </p:nvSpPr>
        <p:spPr>
          <a:xfrm>
            <a:off x="8366760" y="4873752"/>
            <a:ext cx="320040" cy="2000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r"/>
            <a:r>
              <a:rPr lang="pt-BR" sz="850">
                <a:solidFill>
                  <a:srgbClr val="64748B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625" y="3636727"/>
            <a:ext cx="1021891" cy="541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2937" y="3815321"/>
            <a:ext cx="628985" cy="18462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571500" y="428625"/>
            <a:ext cx="8551069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025" b="1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INFRAESTRUTURA DE SUPORTE</a:t>
            </a:r>
            <a:endParaRPr sz="1350"/>
          </a:p>
        </p:txBody>
      </p:sp>
      <p:sp>
        <p:nvSpPr>
          <p:cNvPr id="139" name="Google Shape;139;p17"/>
          <p:cNvSpPr/>
          <p:nvPr/>
        </p:nvSpPr>
        <p:spPr>
          <a:xfrm>
            <a:off x="428625" y="428626"/>
            <a:ext cx="42863" cy="307181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428626" y="1557896"/>
            <a:ext cx="4125515" cy="162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053" b="1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O Desafio Térmico</a:t>
            </a:r>
            <a:endParaRPr sz="1350"/>
          </a:p>
        </p:txBody>
      </p:sp>
      <p:sp>
        <p:nvSpPr>
          <p:cNvPr id="141" name="Google Shape;141;p17"/>
          <p:cNvSpPr txBox="1"/>
          <p:nvPr/>
        </p:nvSpPr>
        <p:spPr>
          <a:xfrm>
            <a:off x="428625" y="1865077"/>
            <a:ext cx="3929063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1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Para cada 1W de TI, gasta-se até 1W adicional em refrigeração e perdas elétricas.</a:t>
            </a:r>
            <a:endParaRPr sz="1350"/>
          </a:p>
        </p:txBody>
      </p:sp>
      <p:sp>
        <p:nvSpPr>
          <p:cNvPr id="142" name="Google Shape;142;p17"/>
          <p:cNvSpPr txBox="1"/>
          <p:nvPr/>
        </p:nvSpPr>
        <p:spPr>
          <a:xfrm>
            <a:off x="635794" y="2465152"/>
            <a:ext cx="78581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1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350"/>
          </a:p>
        </p:txBody>
      </p:sp>
      <p:sp>
        <p:nvSpPr>
          <p:cNvPr id="143" name="Google Shape;143;p17"/>
          <p:cNvSpPr txBox="1"/>
          <p:nvPr/>
        </p:nvSpPr>
        <p:spPr>
          <a:xfrm>
            <a:off x="714375" y="2465152"/>
            <a:ext cx="364331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81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125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Energia:</a:t>
            </a:r>
            <a:r>
              <a:rPr lang="en-US" sz="11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Perdas de conversão em UPS (~9%) e PDUs (~3%).</a:t>
            </a:r>
            <a:endParaRPr sz="1350"/>
          </a:p>
        </p:txBody>
      </p:sp>
      <p:sp>
        <p:nvSpPr>
          <p:cNvPr id="144" name="Google Shape;144;p17"/>
          <p:cNvSpPr txBox="1"/>
          <p:nvPr/>
        </p:nvSpPr>
        <p:spPr>
          <a:xfrm>
            <a:off x="635794" y="2922352"/>
            <a:ext cx="78581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1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350"/>
          </a:p>
        </p:txBody>
      </p:sp>
      <p:sp>
        <p:nvSpPr>
          <p:cNvPr id="145" name="Google Shape;145;p17"/>
          <p:cNvSpPr txBox="1"/>
          <p:nvPr/>
        </p:nvSpPr>
        <p:spPr>
          <a:xfrm>
            <a:off x="714375" y="2922352"/>
            <a:ext cx="3643313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81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125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Fans:</a:t>
            </a:r>
            <a:r>
              <a:rPr lang="en-US" sz="11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 potência do ventilador cresce com o cubo da velocidade.</a:t>
            </a:r>
            <a:endParaRPr sz="1350"/>
          </a:p>
        </p:txBody>
      </p:sp>
      <p:sp>
        <p:nvSpPr>
          <p:cNvPr id="9030" name="pgnum30"/>
          <p:cNvSpPr/>
          <p:nvPr/>
        </p:nvSpPr>
        <p:spPr>
          <a:xfrm>
            <a:off x="8366760" y="4873752"/>
            <a:ext cx="320040" cy="2000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r"/>
            <a:r>
              <a:rPr lang="pt-BR" sz="850">
                <a:solidFill>
                  <a:srgbClr val="64748B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8"/>
          <p:cNvSpPr txBox="1"/>
          <p:nvPr/>
        </p:nvSpPr>
        <p:spPr>
          <a:xfrm>
            <a:off x="428625" y="2239566"/>
            <a:ext cx="3314700" cy="1125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7313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5x/ano</a:t>
            </a:r>
            <a:endParaRPr sz="1350"/>
          </a:p>
        </p:txBody>
      </p:sp>
      <p:sp>
        <p:nvSpPr>
          <p:cNvPr id="152" name="Google Shape;152;p18"/>
          <p:cNvSpPr txBox="1"/>
          <p:nvPr/>
        </p:nvSpPr>
        <p:spPr>
          <a:xfrm>
            <a:off x="428625" y="3239691"/>
            <a:ext cx="3314700" cy="259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688" b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Crescimento da Computação</a:t>
            </a:r>
            <a:endParaRPr sz="1350"/>
          </a:p>
        </p:txBody>
      </p:sp>
      <p:sp>
        <p:nvSpPr>
          <p:cNvPr id="153" name="Google Shape;153;p18"/>
          <p:cNvSpPr txBox="1"/>
          <p:nvPr/>
        </p:nvSpPr>
        <p:spPr>
          <a:xfrm>
            <a:off x="571500" y="428625"/>
            <a:ext cx="8551069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025" b="1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EFICIÊNCIA COMPUTACIONAL</a:t>
            </a:r>
            <a:endParaRPr sz="1350"/>
          </a:p>
        </p:txBody>
      </p:sp>
      <p:sp>
        <p:nvSpPr>
          <p:cNvPr id="154" name="Google Shape;154;p18"/>
          <p:cNvSpPr/>
          <p:nvPr/>
        </p:nvSpPr>
        <p:spPr>
          <a:xfrm>
            <a:off x="428625" y="428626"/>
            <a:ext cx="42863" cy="307181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 txBox="1"/>
          <p:nvPr/>
        </p:nvSpPr>
        <p:spPr>
          <a:xfrm>
            <a:off x="4171951" y="1885950"/>
            <a:ext cx="4770596" cy="162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053" b="1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O Paradoxo de Jevons</a:t>
            </a:r>
            <a:endParaRPr sz="1350"/>
          </a:p>
        </p:txBody>
      </p:sp>
      <p:sp>
        <p:nvSpPr>
          <p:cNvPr id="156" name="Google Shape;156;p18"/>
          <p:cNvSpPr txBox="1"/>
          <p:nvPr/>
        </p:nvSpPr>
        <p:spPr>
          <a:xfrm>
            <a:off x="4171950" y="2193131"/>
            <a:ext cx="454342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1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Embora a eficiência do hardware melhore 1,3x ao ano, a demanda cresce exponencialmente. Ganhos de eficiência tornam o uso da tecnologia mais barato, o que paradoxalmente </a:t>
            </a:r>
            <a:r>
              <a:rPr lang="en-US" sz="1125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aumenta o consumo total</a:t>
            </a:r>
            <a:r>
              <a:rPr lang="en-US" sz="11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350"/>
          </a:p>
        </p:txBody>
      </p:sp>
      <p:sp>
        <p:nvSpPr>
          <p:cNvPr id="157" name="Google Shape;157;p18"/>
          <p:cNvSpPr txBox="1"/>
          <p:nvPr/>
        </p:nvSpPr>
        <p:spPr>
          <a:xfrm>
            <a:off x="4171950" y="3250406"/>
            <a:ext cx="45434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1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 GPT-4 foi 2,8x mais eficiente que o GPT-3, mas a escala de treino massiva anulou a economia absoluta.</a:t>
            </a:r>
            <a:endParaRPr sz="1350"/>
          </a:p>
        </p:txBody>
      </p:sp>
      <p:sp>
        <p:nvSpPr>
          <p:cNvPr id="9031" name="pgnum31"/>
          <p:cNvSpPr/>
          <p:nvPr/>
        </p:nvSpPr>
        <p:spPr>
          <a:xfrm>
            <a:off x="8366760" y="4873752"/>
            <a:ext cx="320040" cy="2000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r"/>
            <a:r>
              <a:rPr lang="pt-BR" sz="850">
                <a:solidFill>
                  <a:srgbClr val="64748B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0062" y="1789509"/>
            <a:ext cx="1425848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175941" y="1903809"/>
            <a:ext cx="1425848" cy="120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51820" y="1903809"/>
            <a:ext cx="1425848" cy="120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27699" y="1789509"/>
            <a:ext cx="1425848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203578" y="1896665"/>
            <a:ext cx="1440135" cy="1214438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650081" y="2010965"/>
            <a:ext cx="1125810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1575" b="1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600W</a:t>
            </a:r>
            <a:endParaRPr sz="1350"/>
          </a:p>
        </p:txBody>
      </p:sp>
      <p:pic>
        <p:nvPicPr>
          <p:cNvPr id="169" name="Google Shape;169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997348" y="2414588"/>
            <a:ext cx="107156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/>
          <p:nvPr/>
        </p:nvSpPr>
        <p:spPr>
          <a:xfrm>
            <a:off x="2325960" y="2125265"/>
            <a:ext cx="1125810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1575" b="1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5,7kW</a:t>
            </a:r>
            <a:endParaRPr sz="1350"/>
          </a:p>
        </p:txBody>
      </p:sp>
      <p:pic>
        <p:nvPicPr>
          <p:cNvPr id="171" name="Google Shape;171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673227" y="2414588"/>
            <a:ext cx="107156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4001839" y="2125265"/>
            <a:ext cx="1125810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1575" b="1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18,1kW</a:t>
            </a:r>
            <a:endParaRPr sz="1350"/>
          </a:p>
        </p:txBody>
      </p:sp>
      <p:pic>
        <p:nvPicPr>
          <p:cNvPr id="173" name="Google Shape;173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349106" y="2414588"/>
            <a:ext cx="107156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5677718" y="2010965"/>
            <a:ext cx="1125810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1575" b="1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9,05MW</a:t>
            </a:r>
            <a:endParaRPr sz="1350"/>
          </a:p>
        </p:txBody>
      </p:sp>
      <p:pic>
        <p:nvPicPr>
          <p:cNvPr id="175" name="Google Shape;175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024985" y="2414588"/>
            <a:ext cx="107156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7360741" y="2125265"/>
            <a:ext cx="1125810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1575" b="1">
                <a:solidFill>
                  <a:srgbClr val="1D4ED8"/>
                </a:solidFill>
                <a:latin typeface="Inter"/>
                <a:ea typeface="Inter"/>
                <a:cs typeface="Inter"/>
                <a:sym typeface="Inter"/>
              </a:rPr>
              <a:t>~13MW</a:t>
            </a:r>
            <a:endParaRPr sz="1350"/>
          </a:p>
        </p:txBody>
      </p:sp>
      <p:sp>
        <p:nvSpPr>
          <p:cNvPr id="177" name="Google Shape;177;p19"/>
          <p:cNvSpPr txBox="1"/>
          <p:nvPr/>
        </p:nvSpPr>
        <p:spPr>
          <a:xfrm>
            <a:off x="571500" y="428625"/>
            <a:ext cx="8551069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025" b="1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DO CHIP À INSTALAÇÃO</a:t>
            </a:r>
            <a:endParaRPr sz="1350"/>
          </a:p>
        </p:txBody>
      </p:sp>
      <p:sp>
        <p:nvSpPr>
          <p:cNvPr id="178" name="Google Shape;178;p19"/>
          <p:cNvSpPr/>
          <p:nvPr/>
        </p:nvSpPr>
        <p:spPr>
          <a:xfrm>
            <a:off x="428625" y="428626"/>
            <a:ext cx="42863" cy="307181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 txBox="1"/>
          <p:nvPr/>
        </p:nvSpPr>
        <p:spPr>
          <a:xfrm>
            <a:off x="428625" y="3575447"/>
            <a:ext cx="82867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1125" i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Multiplicação de escala: como o consumo térmico de um chip escala para megawatts em nível de instalação.</a:t>
            </a:r>
            <a:endParaRPr sz="1350"/>
          </a:p>
        </p:txBody>
      </p:sp>
      <p:sp>
        <p:nvSpPr>
          <p:cNvPr id="180" name="Google Shape;180;p19"/>
          <p:cNvSpPr txBox="1"/>
          <p:nvPr/>
        </p:nvSpPr>
        <p:spPr>
          <a:xfrm>
            <a:off x="650081" y="2396728"/>
            <a:ext cx="112581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11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TDP de uma GPU</a:t>
            </a:r>
            <a:endParaRPr sz="1350"/>
          </a:p>
        </p:txBody>
      </p:sp>
      <p:sp>
        <p:nvSpPr>
          <p:cNvPr id="181" name="Google Shape;181;p19"/>
          <p:cNvSpPr txBox="1"/>
          <p:nvPr/>
        </p:nvSpPr>
        <p:spPr>
          <a:xfrm>
            <a:off x="2325960" y="2511028"/>
            <a:ext cx="112581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11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Servidor (Nó)</a:t>
            </a:r>
            <a:endParaRPr sz="1350"/>
          </a:p>
        </p:txBody>
      </p:sp>
      <p:sp>
        <p:nvSpPr>
          <p:cNvPr id="182" name="Google Shape;182;p19"/>
          <p:cNvSpPr txBox="1"/>
          <p:nvPr/>
        </p:nvSpPr>
        <p:spPr>
          <a:xfrm>
            <a:off x="4001839" y="2511028"/>
            <a:ext cx="112581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11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Por Rack</a:t>
            </a:r>
            <a:endParaRPr sz="1350"/>
          </a:p>
        </p:txBody>
      </p:sp>
      <p:sp>
        <p:nvSpPr>
          <p:cNvPr id="183" name="Google Shape;183;p19"/>
          <p:cNvSpPr txBox="1"/>
          <p:nvPr/>
        </p:nvSpPr>
        <p:spPr>
          <a:xfrm>
            <a:off x="5677718" y="2396728"/>
            <a:ext cx="112581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11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Cluster (500 racks)</a:t>
            </a:r>
            <a:endParaRPr sz="1350"/>
          </a:p>
        </p:txBody>
      </p:sp>
      <p:sp>
        <p:nvSpPr>
          <p:cNvPr id="184" name="Google Shape;184;p19"/>
          <p:cNvSpPr txBox="1"/>
          <p:nvPr/>
        </p:nvSpPr>
        <p:spPr>
          <a:xfrm>
            <a:off x="7360741" y="2511028"/>
            <a:ext cx="112581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11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Total (PUE 1.3)</a:t>
            </a:r>
            <a:endParaRPr sz="1350"/>
          </a:p>
        </p:txBody>
      </p:sp>
      <p:sp>
        <p:nvSpPr>
          <p:cNvPr id="9032" name="pgnum32"/>
          <p:cNvSpPr/>
          <p:nvPr/>
        </p:nvSpPr>
        <p:spPr>
          <a:xfrm>
            <a:off x="8366760" y="4873752"/>
            <a:ext cx="320040" cy="2000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r"/>
            <a:r>
              <a:rPr lang="pt-BR" sz="850">
                <a:solidFill>
                  <a:srgbClr val="64748B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9F8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103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685800" y="2194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2514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centers de IA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8046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Arquitetura, clusters de treino e infraestrutura elétrica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Refrigeração, UPS, baterias e geradores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Métricas: PUE, WUE e CUE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 tradicional vs. data center de IA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Estudos de caso reais</a:t>
            </a:r>
            <a:endParaRPr lang="en-US" sz="1150" dirty="0"/>
          </a:p>
        </p:txBody>
      </p:sp>
      <p:sp>
        <p:nvSpPr>
          <p:cNvPr id="9033" name="pgnum33"/>
          <p:cNvSpPr/>
          <p:nvPr/>
        </p:nvSpPr>
        <p:spPr>
          <a:xfrm>
            <a:off x="8366760" y="4873752"/>
            <a:ext cx="320040" cy="2000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r"/>
            <a:r>
              <a:rPr lang="pt-BR" sz="850">
                <a:solidFill>
                  <a:srgbClr val="CADCFC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625" y="1164432"/>
            <a:ext cx="8286750" cy="3550444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428625" y="428625"/>
            <a:ext cx="8701088" cy="329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138" b="1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Métrica PUE: Evolução da Eficiência</a:t>
            </a:r>
            <a:endParaRPr sz="1350"/>
          </a:p>
        </p:txBody>
      </p:sp>
      <p:sp>
        <p:nvSpPr>
          <p:cNvPr id="159" name="Google Shape;159;p18"/>
          <p:cNvSpPr/>
          <p:nvPr/>
        </p:nvSpPr>
        <p:spPr>
          <a:xfrm>
            <a:off x="428625" y="864394"/>
            <a:ext cx="8286750" cy="14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428625" y="3741539"/>
            <a:ext cx="8286750" cy="246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4"/>
              </a:lnSpc>
            </a:pPr>
            <a:r>
              <a:rPr lang="en-US" sz="1069" i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PUE = Energia Total ÷ Energia de TI. Quanto mais próximo de 1.0, menor o overhead de infraestrutura.</a:t>
            </a:r>
            <a:endParaRPr sz="1350"/>
          </a:p>
        </p:txBody>
      </p:sp>
      <p:sp>
        <p:nvSpPr>
          <p:cNvPr id="9034" name="pgnum34"/>
          <p:cNvSpPr/>
          <p:nvPr/>
        </p:nvSpPr>
        <p:spPr>
          <a:xfrm>
            <a:off x="8366760" y="4873752"/>
            <a:ext cx="320040" cy="2000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r"/>
            <a:r>
              <a:rPr lang="pt-BR" sz="850">
                <a:solidFill>
                  <a:srgbClr val="64748B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625" y="1696529"/>
            <a:ext cx="2619300" cy="2486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62238" y="1696529"/>
            <a:ext cx="2619412" cy="2486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95963" y="1696529"/>
            <a:ext cx="2619300" cy="2486248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 txBox="1"/>
          <p:nvPr/>
        </p:nvSpPr>
        <p:spPr>
          <a:xfrm>
            <a:off x="428625" y="428625"/>
            <a:ext cx="8701088" cy="329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138" b="1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Métricas Ambientais: WUE e CUE</a:t>
            </a:r>
            <a:endParaRPr sz="1350"/>
          </a:p>
        </p:txBody>
      </p:sp>
      <p:sp>
        <p:nvSpPr>
          <p:cNvPr id="170" name="Google Shape;170;p19"/>
          <p:cNvSpPr/>
          <p:nvPr/>
        </p:nvSpPr>
        <p:spPr>
          <a:xfrm>
            <a:off x="428625" y="864394"/>
            <a:ext cx="8286750" cy="14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670681" y="2553778"/>
            <a:ext cx="2135189" cy="22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1463" b="1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Água (WUE)</a:t>
            </a:r>
            <a:endParaRPr sz="1350"/>
          </a:p>
        </p:txBody>
      </p:sp>
      <p:sp>
        <p:nvSpPr>
          <p:cNvPr id="172" name="Google Shape;172;p19"/>
          <p:cNvSpPr txBox="1"/>
          <p:nvPr/>
        </p:nvSpPr>
        <p:spPr>
          <a:xfrm>
            <a:off x="721519" y="2918110"/>
            <a:ext cx="2033513" cy="740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9964"/>
              </a:lnSpc>
            </a:pPr>
            <a:r>
              <a:rPr lang="en-US" sz="1069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Um DC de 100MW utiliza ~2 milhões de litros/dia. Equivale ao consumo de 6.500 residências.</a:t>
            </a:r>
            <a:endParaRPr sz="1350"/>
          </a:p>
        </p:txBody>
      </p:sp>
      <p:sp>
        <p:nvSpPr>
          <p:cNvPr id="173" name="Google Shape;173;p19"/>
          <p:cNvSpPr txBox="1"/>
          <p:nvPr/>
        </p:nvSpPr>
        <p:spPr>
          <a:xfrm>
            <a:off x="3504291" y="2553778"/>
            <a:ext cx="2135306" cy="22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1463" b="1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Carbono (CUE)</a:t>
            </a:r>
            <a:endParaRPr sz="1350"/>
          </a:p>
        </p:txBody>
      </p:sp>
      <p:sp>
        <p:nvSpPr>
          <p:cNvPr id="174" name="Google Shape;174;p19"/>
          <p:cNvSpPr txBox="1"/>
          <p:nvPr/>
        </p:nvSpPr>
        <p:spPr>
          <a:xfrm>
            <a:off x="3555132" y="2918110"/>
            <a:ext cx="2033624" cy="987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9964"/>
              </a:lnSpc>
            </a:pPr>
            <a:r>
              <a:rPr lang="en-US" sz="1069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Emissões de CO2 dependem da matriz local. Redes nucleares/renováveis reduzem CUE em 10x.</a:t>
            </a:r>
            <a:endParaRPr sz="1350"/>
          </a:p>
        </p:txBody>
      </p:sp>
      <p:sp>
        <p:nvSpPr>
          <p:cNvPr id="175" name="Google Shape;175;p19"/>
          <p:cNvSpPr txBox="1"/>
          <p:nvPr/>
        </p:nvSpPr>
        <p:spPr>
          <a:xfrm>
            <a:off x="6338018" y="2553778"/>
            <a:ext cx="2135189" cy="22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1463" b="1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Escala Global</a:t>
            </a:r>
            <a:endParaRPr sz="1350"/>
          </a:p>
        </p:txBody>
      </p:sp>
      <p:sp>
        <p:nvSpPr>
          <p:cNvPr id="176" name="Google Shape;176;p19"/>
          <p:cNvSpPr txBox="1"/>
          <p:nvPr/>
        </p:nvSpPr>
        <p:spPr>
          <a:xfrm>
            <a:off x="6388856" y="2918110"/>
            <a:ext cx="2033513" cy="740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9964"/>
              </a:lnSpc>
            </a:pPr>
            <a:r>
              <a:rPr lang="en-US" sz="1069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Consumo de água passará de 560 bi para 1.200 bi de litros/ano até 2030.</a:t>
            </a:r>
            <a:endParaRPr sz="1350"/>
          </a:p>
        </p:txBody>
      </p:sp>
      <p:pic>
        <p:nvPicPr>
          <p:cNvPr id="177" name="Google Shape;177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66825" y="2025141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357576" y="2025141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234163" y="2025141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9035" name="pgnum35"/>
          <p:cNvSpPr/>
          <p:nvPr/>
        </p:nvSpPr>
        <p:spPr>
          <a:xfrm>
            <a:off x="8366760" y="4873752"/>
            <a:ext cx="320040" cy="2000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r"/>
            <a:r>
              <a:rPr lang="pt-BR" sz="850">
                <a:solidFill>
                  <a:srgbClr val="64748B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428625" y="428625"/>
            <a:ext cx="8701088" cy="329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138" b="1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Diferenciais Estratégicos</a:t>
            </a:r>
            <a:endParaRPr sz="1350"/>
          </a:p>
        </p:txBody>
      </p:sp>
      <p:sp>
        <p:nvSpPr>
          <p:cNvPr id="186" name="Google Shape;186;p20"/>
          <p:cNvSpPr/>
          <p:nvPr/>
        </p:nvSpPr>
        <p:spPr>
          <a:xfrm>
            <a:off x="428625" y="864394"/>
            <a:ext cx="8286750" cy="14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7" name="Google Shape;187;p20"/>
          <p:cNvGraphicFramePr/>
          <p:nvPr/>
        </p:nvGraphicFramePr>
        <p:xfrm>
          <a:off x="428625" y="1753790"/>
          <a:ext cx="8286750" cy="2443164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636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24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7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19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E293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Parâmetro</a:t>
                      </a:r>
                      <a:endParaRPr sz="1400"/>
                    </a:p>
                  </a:txBody>
                  <a:tcPr marL="47625" marR="47625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E293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DC Tradicional</a:t>
                      </a:r>
                      <a:endParaRPr sz="1400"/>
                    </a:p>
                  </a:txBody>
                  <a:tcPr marL="47625" marR="47625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E293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Data Center de IA</a:t>
                      </a:r>
                      <a:endParaRPr sz="1400"/>
                    </a:p>
                  </a:txBody>
                  <a:tcPr marL="47625" marR="47625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19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Densidade por Rack</a:t>
                      </a:r>
                      <a:endParaRPr sz="1400"/>
                    </a:p>
                  </a:txBody>
                  <a:tcPr marL="47625" marR="47625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5 - 15 kW</a:t>
                      </a:r>
                      <a:endParaRPr sz="1400"/>
                    </a:p>
                  </a:txBody>
                  <a:tcPr marL="47625" marR="47625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30 - 150 kW</a:t>
                      </a:r>
                      <a:endParaRPr sz="1400"/>
                    </a:p>
                  </a:txBody>
                  <a:tcPr marL="47625" marR="47625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19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Escala Total</a:t>
                      </a:r>
                      <a:endParaRPr sz="1400"/>
                    </a:p>
                  </a:txBody>
                  <a:tcPr marL="47625" marR="47625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10 - 50 MW</a:t>
                      </a:r>
                      <a:endParaRPr sz="1400"/>
                    </a:p>
                  </a:txBody>
                  <a:tcPr marL="47625" marR="47625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100 MW - 1 GW+</a:t>
                      </a:r>
                      <a:endParaRPr sz="1400"/>
                    </a:p>
                  </a:txBody>
                  <a:tcPr marL="47625" marR="47625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19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Refrigeração</a:t>
                      </a:r>
                      <a:endParaRPr sz="1400"/>
                    </a:p>
                  </a:txBody>
                  <a:tcPr marL="47625" marR="47625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Ar (CRAC/CRAH)</a:t>
                      </a:r>
                      <a:endParaRPr sz="1400"/>
                    </a:p>
                  </a:txBody>
                  <a:tcPr marL="47625" marR="47625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Líquido / Imersão</a:t>
                      </a:r>
                      <a:endParaRPr sz="1400"/>
                    </a:p>
                  </a:txBody>
                  <a:tcPr marL="47625" marR="47625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19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Perfil de Carga</a:t>
                      </a:r>
                      <a:endParaRPr sz="1400"/>
                    </a:p>
                  </a:txBody>
                  <a:tcPr marL="47625" marR="47625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Estável / Sazonal</a:t>
                      </a:r>
                      <a:endParaRPr sz="1400"/>
                    </a:p>
                  </a:txBody>
                  <a:tcPr marL="47625" marR="47625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Picos / 100% no Treino</a:t>
                      </a:r>
                      <a:endParaRPr sz="1400"/>
                    </a:p>
                  </a:txBody>
                  <a:tcPr marL="47625" marR="47625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19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Conexão Elétrica</a:t>
                      </a:r>
                      <a:endParaRPr sz="1400"/>
                    </a:p>
                  </a:txBody>
                  <a:tcPr marL="47625" marR="47625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Rede de Distribuição</a:t>
                      </a:r>
                      <a:endParaRPr sz="1400"/>
                    </a:p>
                  </a:txBody>
                  <a:tcPr marL="47625" marR="47625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Rede de Transmissão</a:t>
                      </a:r>
                      <a:endParaRPr sz="1400"/>
                    </a:p>
                  </a:txBody>
                  <a:tcPr marL="47625" marR="47625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8" name="Google Shape;188;p20"/>
          <p:cNvSpPr/>
          <p:nvPr/>
        </p:nvSpPr>
        <p:spPr>
          <a:xfrm>
            <a:off x="428625" y="2139553"/>
            <a:ext cx="2636602" cy="14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3065227" y="2139553"/>
            <a:ext cx="2692412" cy="14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5757640" y="2139553"/>
            <a:ext cx="2957735" cy="14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428625" y="2557463"/>
            <a:ext cx="2636602" cy="7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3065227" y="2557463"/>
            <a:ext cx="2692412" cy="7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5757640" y="2557463"/>
            <a:ext cx="2957735" cy="7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428625" y="2964657"/>
            <a:ext cx="2636602" cy="7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3065227" y="2964657"/>
            <a:ext cx="2692412" cy="7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5757640" y="2964657"/>
            <a:ext cx="2957735" cy="7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428625" y="3371850"/>
            <a:ext cx="2636602" cy="7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3065227" y="3371850"/>
            <a:ext cx="2692412" cy="7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5757640" y="3371850"/>
            <a:ext cx="2957735" cy="7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428625" y="3779044"/>
            <a:ext cx="2636602" cy="7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3065227" y="3779044"/>
            <a:ext cx="2692412" cy="7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5757640" y="3779044"/>
            <a:ext cx="2957735" cy="7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428625" y="4186238"/>
            <a:ext cx="2636602" cy="7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3065227" y="4186238"/>
            <a:ext cx="2692412" cy="7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5757640" y="4186238"/>
            <a:ext cx="2957735" cy="7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6" name="pgnum36"/>
          <p:cNvSpPr/>
          <p:nvPr/>
        </p:nvSpPr>
        <p:spPr>
          <a:xfrm>
            <a:off x="8366760" y="4873752"/>
            <a:ext cx="320040" cy="2000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r"/>
            <a:r>
              <a:rPr lang="pt-BR" sz="850">
                <a:solidFill>
                  <a:srgbClr val="64748B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307269-8E0E-3CD3-CA7A-ED71637F7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15">
            <a:extLst>
              <a:ext uri="{FF2B5EF4-FFF2-40B4-BE49-F238E27FC236}">
                <a16:creationId xmlns:a16="http://schemas.microsoft.com/office/drawing/2014/main" id="{D768022F-A964-412B-B7B8-EE2760DDDE72}"/>
              </a:ext>
            </a:extLst>
          </p:cNvPr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8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72EA21E-9901-68EA-A0DE-50FE9DBF843E}"/>
              </a:ext>
            </a:extLst>
          </p:cNvPr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</a:t>
            </a:r>
            <a:endParaRPr lang="en-US" sz="750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0247F416-1209-BEDC-79DE-28E6C0B7E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987" y="50292"/>
            <a:ext cx="6567628" cy="1736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824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EF87BF-9774-358A-4E6B-D0904663F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15">
            <a:extLst>
              <a:ext uri="{FF2B5EF4-FFF2-40B4-BE49-F238E27FC236}">
                <a16:creationId xmlns:a16="http://schemas.microsoft.com/office/drawing/2014/main" id="{5F91B454-F48D-FD6E-BD0D-EC0A44DA8BF5}"/>
              </a:ext>
            </a:extLst>
          </p:cNvPr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8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22C8BDC-27A7-063B-D053-ADFBC31FC229}"/>
              </a:ext>
            </a:extLst>
          </p:cNvPr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</a:t>
            </a:r>
            <a:endParaRPr lang="en-US" sz="75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2FADA30-CB58-5448-8D78-EF2336629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82" y="0"/>
            <a:ext cx="4187271" cy="164971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438A509-C798-05A7-3D70-C2C9A8287D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474" y="1732264"/>
            <a:ext cx="2724902" cy="210268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8A145846-666C-1E14-15D2-656C839F3C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2271" y="1551970"/>
            <a:ext cx="4465756" cy="959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4774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2991D2-0A6F-CB00-C0E7-927BBE57E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15">
            <a:extLst>
              <a:ext uri="{FF2B5EF4-FFF2-40B4-BE49-F238E27FC236}">
                <a16:creationId xmlns:a16="http://schemas.microsoft.com/office/drawing/2014/main" id="{99EF4C56-5989-0611-49F1-E8931FACE594}"/>
              </a:ext>
            </a:extLst>
          </p:cNvPr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8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D541E2F-A5BF-C576-7102-433FEADBCB6D}"/>
              </a:ext>
            </a:extLst>
          </p:cNvPr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</a:t>
            </a:r>
            <a:endParaRPr lang="en-US" sz="750" dirty="0"/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59E464AD-8C1A-AEC6-ED23-0DC31C793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972213" cy="2225775"/>
          </a:xfrm>
          <a:prstGeom prst="rect">
            <a:avLst/>
          </a:prstGeom>
        </p:spPr>
      </p:pic>
      <p:sp>
        <p:nvSpPr>
          <p:cNvPr id="21" name="CaixaDeTexto 20">
            <a:extLst>
              <a:ext uri="{FF2B5EF4-FFF2-40B4-BE49-F238E27FC236}">
                <a16:creationId xmlns:a16="http://schemas.microsoft.com/office/drawing/2014/main" id="{56677A7D-BFCF-D7C9-B179-F8652F3EF193}"/>
              </a:ext>
            </a:extLst>
          </p:cNvPr>
          <p:cNvSpPr txBox="1"/>
          <p:nvPr/>
        </p:nvSpPr>
        <p:spPr>
          <a:xfrm>
            <a:off x="457200" y="2390987"/>
            <a:ext cx="49616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Projetada a expansão para 500k GPUs (650MW)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Atualmente 300MW</a:t>
            </a:r>
          </a:p>
        </p:txBody>
      </p:sp>
    </p:spTree>
    <p:extLst>
      <p:ext uri="{BB962C8B-B14F-4D97-AF65-F5344CB8AC3E}">
        <p14:creationId xmlns:p14="http://schemas.microsoft.com/office/powerpoint/2010/main" val="40585603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DA PARTE 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levar da Parte 4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2596896" cy="1371600"/>
          </a:xfrm>
          <a:prstGeom prst="roundRect">
            <a:avLst>
              <a:gd name="adj" fmla="val 4000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30352" y="1389888"/>
            <a:ext cx="2450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métricas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2052828"/>
            <a:ext cx="241401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 (energia), WUE (água), CUE (carbono)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73552" y="1298448"/>
            <a:ext cx="2596896" cy="1371600"/>
          </a:xfrm>
          <a:prstGeom prst="roundRect">
            <a:avLst>
              <a:gd name="adj" fmla="val 4000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346704" y="1389888"/>
            <a:ext cx="2450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~1,1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3364992" y="2052828"/>
            <a:ext cx="241401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 dos melhores; média global ainda ~1,5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89904" y="1298448"/>
            <a:ext cx="2596896" cy="1371600"/>
          </a:xfrm>
          <a:prstGeom prst="roundRect">
            <a:avLst>
              <a:gd name="adj" fmla="val 4000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163056" y="1389888"/>
            <a:ext cx="2450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30–150 kW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6181344" y="2052828"/>
            <a:ext cx="241401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densidade de rack de IA (vs 5–15 tradicional)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889504"/>
            <a:ext cx="2596896" cy="1371600"/>
          </a:xfrm>
          <a:prstGeom prst="roundRect">
            <a:avLst>
              <a:gd name="adj" fmla="val 4000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30352" y="2980944"/>
            <a:ext cx="2450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4,35 L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548640" y="3643884"/>
            <a:ext cx="241401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água por kWh (média EUA, incl. geração)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73552" y="2889504"/>
            <a:ext cx="2596896" cy="1371600"/>
          </a:xfrm>
          <a:prstGeom prst="roundRect">
            <a:avLst>
              <a:gd name="adj" fmla="val 4000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3346704" y="2980944"/>
            <a:ext cx="2450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CUE=β·PUE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3364992" y="3643884"/>
            <a:ext cx="241401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carbono depende da matriz, não só da eficiência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89904" y="2889504"/>
            <a:ext cx="2596896" cy="1371600"/>
          </a:xfrm>
          <a:prstGeom prst="roundRect">
            <a:avLst>
              <a:gd name="adj" fmla="val 4000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163056" y="2980944"/>
            <a:ext cx="2450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GW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6181344" y="3643884"/>
            <a:ext cx="241401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nova unidade de escala dos campi de IA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</a:t>
            </a:r>
            <a:endParaRPr lang="en-US" sz="7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A04C64-38D4-285D-8E5E-6CABA2AB1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17">
            <a:extLst>
              <a:ext uri="{FF2B5EF4-FFF2-40B4-BE49-F238E27FC236}">
                <a16:creationId xmlns:a16="http://schemas.microsoft.com/office/drawing/2014/main" id="{E7B8C93A-7994-8E93-7889-C257DAE51859}"/>
              </a:ext>
            </a:extLst>
          </p:cNvPr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85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B1A5ABA-95B4-3BC6-CEB2-E200412EC366}"/>
              </a:ext>
            </a:extLst>
          </p:cNvPr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5</a:t>
            </a:r>
            <a:endParaRPr lang="en-US" sz="75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3EDF835-D814-7082-6C44-58AD0DBBDB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617" y="1219200"/>
            <a:ext cx="4457482" cy="322783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E4900F7B-5910-0618-6EF8-B6DC2DD0F6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51" y="0"/>
            <a:ext cx="5884003" cy="1091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1847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AAB46E-9C6A-F22F-0A58-2E62AA3EB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17">
            <a:extLst>
              <a:ext uri="{FF2B5EF4-FFF2-40B4-BE49-F238E27FC236}">
                <a16:creationId xmlns:a16="http://schemas.microsoft.com/office/drawing/2014/main" id="{AA6A5931-39E9-5421-7529-9C2F4A2D57C5}"/>
              </a:ext>
            </a:extLst>
          </p:cNvPr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85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2BEFDCD-4903-CD6E-1C9D-3B8156A0D1F9}"/>
              </a:ext>
            </a:extLst>
          </p:cNvPr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5</a:t>
            </a:r>
            <a:endParaRPr lang="en-US" sz="75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5A859DC-F534-256D-2B74-91FF72DFA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51" y="0"/>
            <a:ext cx="5884003" cy="109187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DC17780A-D121-D069-175C-7ABF2C5314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040" y="1232170"/>
            <a:ext cx="7978987" cy="3137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0816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34DA7C-E1D7-A926-8793-3D1A10E65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17">
            <a:extLst>
              <a:ext uri="{FF2B5EF4-FFF2-40B4-BE49-F238E27FC236}">
                <a16:creationId xmlns:a16="http://schemas.microsoft.com/office/drawing/2014/main" id="{93D6E722-B1BD-C41F-C0DC-DAC062F9545A}"/>
              </a:ext>
            </a:extLst>
          </p:cNvPr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85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2AC0359-055C-6043-92C2-FA43A3EBC803}"/>
              </a:ext>
            </a:extLst>
          </p:cNvPr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5</a:t>
            </a:r>
            <a:endParaRPr lang="en-US" sz="75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378524C-C435-1B56-25B4-D8E73E4B48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51" y="0"/>
            <a:ext cx="5884003" cy="109187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2A8C51C-CFDE-FA73-4CA0-419887C223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91876"/>
            <a:ext cx="9144000" cy="3625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3181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FB0BE4-1C8A-938B-05ED-5D01531E8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17">
            <a:extLst>
              <a:ext uri="{FF2B5EF4-FFF2-40B4-BE49-F238E27FC236}">
                <a16:creationId xmlns:a16="http://schemas.microsoft.com/office/drawing/2014/main" id="{1060552A-6929-3316-63A4-B947E6E0C358}"/>
              </a:ext>
            </a:extLst>
          </p:cNvPr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85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876F289-34B8-B998-0474-706010C7A819}"/>
              </a:ext>
            </a:extLst>
          </p:cNvPr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5</a:t>
            </a:r>
            <a:endParaRPr lang="en-US" sz="750" dirty="0"/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88D87EDF-8F3D-8A1B-0255-B9F886124D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4645"/>
            <a:ext cx="7477760" cy="1392770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CC3EC333-9A2C-24E9-E39E-E114353ACD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356" y="1567415"/>
            <a:ext cx="6352324" cy="2681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67017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A833F3-16B2-D616-8048-0F398FE46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17">
            <a:extLst>
              <a:ext uri="{FF2B5EF4-FFF2-40B4-BE49-F238E27FC236}">
                <a16:creationId xmlns:a16="http://schemas.microsoft.com/office/drawing/2014/main" id="{D594F6AF-EB65-5F01-F7CE-5864C34A35BA}"/>
              </a:ext>
            </a:extLst>
          </p:cNvPr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85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4E772C3F-DED4-BADF-6F67-AE3DA20CBA85}"/>
              </a:ext>
            </a:extLst>
          </p:cNvPr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5</a:t>
            </a:r>
            <a:endParaRPr lang="en-US" sz="75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2CDD56F-7429-6726-9650-1C8293E9A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003" y="0"/>
            <a:ext cx="5071118" cy="191732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25F7D2C7-10B0-3450-3C04-87792765CF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8376" y="1917321"/>
            <a:ext cx="4590210" cy="93648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7982D03-E88A-A3D6-952B-62D8786C27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903" y="1917321"/>
            <a:ext cx="2502260" cy="1937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56060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9F8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103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685800" y="2194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2514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Impacto energético dos modelos de IA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8046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Treino, fine-tuning, RAG e inferência: quem consome o quê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kWh por treino, kWh por consulta, energia por token e por imagem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Diferenças de eficiência entre modelos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'quebra-cabeça dos 98%' e a dificuldade de medir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pegada de um dia de uso de IA</a:t>
            </a:r>
            <a:endParaRPr lang="en-US" sz="1150" dirty="0"/>
          </a:p>
        </p:txBody>
      </p:sp>
      <p:sp>
        <p:nvSpPr>
          <p:cNvPr id="9046" name="pgnum46"/>
          <p:cNvSpPr/>
          <p:nvPr/>
        </p:nvSpPr>
        <p:spPr>
          <a:xfrm>
            <a:off x="8366760" y="4873752"/>
            <a:ext cx="320040" cy="2000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r"/>
            <a:r>
              <a:rPr lang="pt-BR" sz="850">
                <a:solidFill>
                  <a:srgbClr val="CADCFC"/>
                </a:solidFill>
                <a:latin typeface="Calibri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FASES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Onde a energia é gasta ao longo da vida do modelo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é um pico único; inferência é um fluxo contínuo que, somado, domina.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773936"/>
            <a:ext cx="4005072" cy="1335024"/>
          </a:xfrm>
          <a:prstGeom prst="roundRect">
            <a:avLst>
              <a:gd name="adj" fmla="val 4110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30352" y="1865376"/>
            <a:ext cx="385876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~30–40%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48640" y="2508199"/>
            <a:ext cx="3822192" cy="560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consumo de vida é treino + preparação do modelo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81728" y="1773936"/>
            <a:ext cx="4005072" cy="1335024"/>
          </a:xfrm>
          <a:prstGeom prst="roundRect">
            <a:avLst>
              <a:gd name="adj" fmla="val 4110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754880" y="1865376"/>
            <a:ext cx="385876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~60%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4773168" y="2508199"/>
            <a:ext cx="3822192" cy="560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inferência (no Google); pode chegar a &gt;90% em escala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328416"/>
            <a:ext cx="4005072" cy="1335024"/>
          </a:xfrm>
          <a:prstGeom prst="roundRect">
            <a:avLst>
              <a:gd name="adj" fmla="val 4110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30352" y="3419856"/>
            <a:ext cx="385876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~10%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548640" y="4062679"/>
            <a:ext cx="3822192" cy="560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preparação de dados e fine-tuning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81728" y="3328416"/>
            <a:ext cx="4005072" cy="1335024"/>
          </a:xfrm>
          <a:prstGeom prst="roundRect">
            <a:avLst>
              <a:gd name="adj" fmla="val 4110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754880" y="3419856"/>
            <a:ext cx="385876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80–90%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4773168" y="4062679"/>
            <a:ext cx="3822192" cy="560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energia operacional total da IA é inferência (UNU-INWEH)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5</a:t>
            </a:r>
            <a:endParaRPr lang="en-US" sz="7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KWH POR TREINAMENTO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Energia de treino: ordens de magnitude entre modelos</a:t>
            </a:r>
            <a:endParaRPr lang="en-US" sz="2300" dirty="0"/>
          </a:p>
        </p:txBody>
      </p:sp>
      <p:pic>
        <p:nvPicPr>
          <p:cNvPr id="5" name="Image 0" descr="charts/train_energ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98448"/>
            <a:ext cx="5120640" cy="32278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0" y="1298448"/>
            <a:ext cx="2743200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casa dos MWh aos GWh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GPT-2: ~1,4 MWh.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GPT-3: 1.287 MWh (~120 residências/ano nos EUA).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3.1 405B: ~21 GWh.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GPT-4: ~50–62 GWh (alimenta São Francisco por ~3 dias).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ordens de magnitude do GPT-2 ao GPT-4.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462686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logarítmica. GPT-4 = ponto médio da faixa 50–62 GWh reportada por diferentes fontes.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5</a:t>
            </a:r>
            <a:endParaRPr lang="en-US" sz="7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DO TREINO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kWh por treinamento em perspectiva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por execução, pequeno no agregado — mas com pegada ambiental concentrada.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484632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Comparações úteis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do GPT-4 ≈ eletricidade diária de ~28.500 residências de economia avançada.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grandes modelos treinados desde 2020 ≈ 1,7 TWh ≈ 0,001% da eletricidade global (IEA).</a:t>
            </a:r>
            <a:endParaRPr lang="en-US" sz="1400" dirty="0"/>
          </a:p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há pegadas além da energia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(estimativa UNU-INWEH): ~25.000 t CO₂e; ~600 milhões de litros de água.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fabricação dos chips também consome: TSMC usou &gt;20 TWh em 2023.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23560" y="1298448"/>
            <a:ext cx="3063240" cy="3364992"/>
          </a:xfrm>
          <a:prstGeom prst="roundRect">
            <a:avLst>
              <a:gd name="adj" fmla="val 1791"/>
            </a:avLst>
          </a:prstGeom>
          <a:solidFill>
            <a:srgbClr val="0B1F2A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788152" y="1444752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do GPT-4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788152" y="1901952"/>
            <a:ext cx="2734056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~50–62 GWh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 de uma execução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~25.000 t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CO₂e (estimativa)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~600 mi L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água (≈237 piscinas olímpicas)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5</a:t>
            </a:r>
            <a:endParaRPr lang="en-US" sz="7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Fine-tuning: adaptar sem retreinar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um modelo pré-treinado a uma tarefa custa uma fração do pré-treino.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484632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Parte-se de um modelo fundacional e ajustam-se os pesos para uma tarefa/domínio específico.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 mais barato que treinar do zero — reaproveita o pré-treino.</a:t>
            </a:r>
            <a:endParaRPr lang="en-US" sz="1400" dirty="0"/>
          </a:p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eficientes (PEFT)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/ PEFT: ajustam poucos parâmetros, cortando energia em até ~70% vs. fine-tuning completo.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seletivo pode reduzir a energia em até ~64% (Chen et al.).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menores especializados podem cortar &gt;50% da energia vs. um 7B+ genérico.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23560" y="1298448"/>
            <a:ext cx="3063240" cy="1011936"/>
          </a:xfrm>
          <a:prstGeom prst="roundRect">
            <a:avLst>
              <a:gd name="adj" fmla="val 542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696712" y="1389888"/>
            <a:ext cx="2916936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até 70%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715000" y="1855013"/>
            <a:ext cx="2880360" cy="425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com LoRA/PEFT vs. fine-tuning completo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23560" y="2474976"/>
            <a:ext cx="3063240" cy="1011936"/>
          </a:xfrm>
          <a:prstGeom prst="roundRect">
            <a:avLst>
              <a:gd name="adj" fmla="val 542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696712" y="2566416"/>
            <a:ext cx="2916936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até 64%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5715000" y="3031541"/>
            <a:ext cx="2880360" cy="425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com fine-tuning seletivo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23560" y="3651504"/>
            <a:ext cx="3063240" cy="1011936"/>
          </a:xfrm>
          <a:prstGeom prst="roundRect">
            <a:avLst>
              <a:gd name="adj" fmla="val 542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696712" y="3742944"/>
            <a:ext cx="2916936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&gt;50%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5715000" y="4208069"/>
            <a:ext cx="2880360" cy="425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usando modelo menor especializado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5</a:t>
            </a:r>
            <a:endParaRPr lang="en-US" sz="7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RAG: Retrieval-Augmented Generation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vez de embutir todo o conhecimento nos pesos, busca-se informação externa em tempo de inferência.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484632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recupera documentos relevantes e os fornece como contexto ao LLM.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usar modelos menores com conhecimento atualizado, sem retreinar.</a:t>
            </a:r>
            <a:endParaRPr lang="en-US" sz="1400" dirty="0"/>
          </a:p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energético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Economia: evita retreinos caros e pode usar um modelo-base menor.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Custo: aumenta o tamanho do contexto (mais tokens) → mais energia por consulta.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 o consumo do sistema de busca/recuperação (banco vetorial).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23560" y="1298448"/>
            <a:ext cx="3063240" cy="3364992"/>
          </a:xfrm>
          <a:prstGeom prst="roundRect">
            <a:avLst>
              <a:gd name="adj" fmla="val 1791"/>
            </a:avLst>
          </a:prstGeom>
          <a:solidFill>
            <a:srgbClr val="0B1F2A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788152" y="1444752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RAG: balanço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788152" y="1901952"/>
            <a:ext cx="2734056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Economiza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retreino; permite modelo menor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Custa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maior = mais tokens/energia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Líquido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do caso; medir é essencial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5</a:t>
            </a:r>
            <a:endParaRPr lang="en-US" sz="7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KWH POR CONSULTA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Energia por consulta: do texto curto ao raciocínio</a:t>
            </a:r>
            <a:endParaRPr lang="en-US" sz="2300" dirty="0"/>
          </a:p>
        </p:txBody>
      </p:sp>
      <p:pic>
        <p:nvPicPr>
          <p:cNvPr id="5" name="Image 0" descr="charts/infer_energ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98448"/>
            <a:ext cx="5120640" cy="32278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0" y="1298448"/>
            <a:ext cx="2743200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 de ~150×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curto: ~0,24–0,3 Wh (Gemini, ChatGPT).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Imagem: ~2,9 Wh.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Raciocínio longo: 30–40 Wh (GPT-o3, DeepSeek-R1).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modo de uso importa tanto quanto o modelo.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462686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logarítmica. Valores incluem estimativas de empresas e medições independentes.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5</a:t>
            </a:r>
            <a:endParaRPr lang="en-US" sz="7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 POR TOKEN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Energia por token e o custo do 'pensar'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unidade fundamental da inferência é o token gerado — e gerar mais tokens custa mais.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484632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mecânica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token gerado exige uma passagem completa pelo modelo (forward pass).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 por consulta ≈ energia por token × número de tokens gerados.</a:t>
            </a:r>
            <a:endParaRPr lang="en-US" sz="1400" dirty="0"/>
          </a:p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raciocínio custa caro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raciocínio geram longas 'cadeias de pensamento' internas antes da resposta.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~43× mais energia para problemas simples (vs. resposta direta).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clássica: consulta a LLM ~3 Wh vs. busca tradicional ~0,3 Wh (~10×).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23560" y="1298448"/>
            <a:ext cx="3063240" cy="1011936"/>
          </a:xfrm>
          <a:prstGeom prst="roundRect">
            <a:avLst>
              <a:gd name="adj" fmla="val 542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696712" y="1389888"/>
            <a:ext cx="2916936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43×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715000" y="1855013"/>
            <a:ext cx="2880360" cy="425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energia em modelos de raciocínio (problema simples)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23560" y="2474976"/>
            <a:ext cx="3063240" cy="1011936"/>
          </a:xfrm>
          <a:prstGeom prst="roundRect">
            <a:avLst>
              <a:gd name="adj" fmla="val 542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696712" y="2566416"/>
            <a:ext cx="2916936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~10×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5715000" y="3031541"/>
            <a:ext cx="2880360" cy="425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(~3 Wh) vs. busca tradicional (~0,3 Wh)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23560" y="3651504"/>
            <a:ext cx="3063240" cy="1011936"/>
          </a:xfrm>
          <a:prstGeom prst="roundRect">
            <a:avLst>
              <a:gd name="adj" fmla="val 542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696712" y="3742944"/>
            <a:ext cx="2916936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token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5715000" y="4208069"/>
            <a:ext cx="2880360" cy="425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 forward pass completo pelo modelo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5</a:t>
            </a:r>
            <a:endParaRPr lang="en-US" sz="7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 POR IMAGEM E VÍDEO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Geração de imagem e vídeo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Mídia generativa é muito mais cara que texto — e o vídeo é o extremo.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773936"/>
            <a:ext cx="2596896" cy="1335024"/>
          </a:xfrm>
          <a:prstGeom prst="roundRect">
            <a:avLst>
              <a:gd name="adj" fmla="val 4110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30352" y="1865376"/>
            <a:ext cx="24505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2,9 Wh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48640" y="2508199"/>
            <a:ext cx="2414016" cy="560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imagem padrão (≈60× uma resposta curta de texto)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73552" y="1773936"/>
            <a:ext cx="2596896" cy="1335024"/>
          </a:xfrm>
          <a:prstGeom prst="roundRect">
            <a:avLst>
              <a:gd name="adj" fmla="val 4110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346704" y="1865376"/>
            <a:ext cx="24505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1,22 g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3364992" y="2508199"/>
            <a:ext cx="2414016" cy="560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CO₂e por imagem; ~28,6 mL de água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89904" y="1773936"/>
            <a:ext cx="2596896" cy="1335024"/>
          </a:xfrm>
          <a:prstGeom prst="roundRect">
            <a:avLst>
              <a:gd name="adj" fmla="val 4110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163056" y="1865376"/>
            <a:ext cx="24505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&gt;415 Wh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6181344" y="2508199"/>
            <a:ext cx="2414016" cy="560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vídeo curto de alta resolução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328416"/>
            <a:ext cx="2596896" cy="1335024"/>
          </a:xfrm>
          <a:prstGeom prst="roundRect">
            <a:avLst>
              <a:gd name="adj" fmla="val 4110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0352" y="3419856"/>
            <a:ext cx="24505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~3,4 mi J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548640" y="4062679"/>
            <a:ext cx="2414016" cy="560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de 5 s (modelo recente) — 30× o anterior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73552" y="3328416"/>
            <a:ext cx="2596896" cy="1335024"/>
          </a:xfrm>
          <a:prstGeom prst="roundRect">
            <a:avLst>
              <a:gd name="adj" fmla="val 4110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3346704" y="3419856"/>
            <a:ext cx="24505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~34 mi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3364992" y="4062679"/>
            <a:ext cx="2414016" cy="560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 de IA geradas por dia (2023)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89904" y="3328416"/>
            <a:ext cx="2596896" cy="1335024"/>
          </a:xfrm>
          <a:prstGeom prst="roundRect">
            <a:avLst>
              <a:gd name="adj" fmla="val 4110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163056" y="3419856"/>
            <a:ext cx="24505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−99%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6181344" y="4062679"/>
            <a:ext cx="2414016" cy="560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ao reduzir frames + resolução + passos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5</a:t>
            </a:r>
            <a:endParaRPr lang="en-US" sz="7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QUEBRA-CABEÇA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'quebra-cabeça dos 98%'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contas de inferência de chatbots explicam só uma fração da energia atribuída à IA.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484632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 de guardanapo da IEA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bilhões de consultas/dia × ~1 Wh = 10 GWh/dia = ~3,65 TWh/ano.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os data centers de IA consumiram ~155 TWh em 2025.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as consultas de texto explicam apenas ~2% do total.</a:t>
            </a:r>
            <a:endParaRPr lang="en-US" sz="1400" dirty="0"/>
          </a:p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estão os outros ~98%?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Treino, geração de imagem/vídeo, IA difusa em produtos, sobrecapacidade e baixa utilização.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23560" y="1298448"/>
            <a:ext cx="3063240" cy="3364992"/>
          </a:xfrm>
          <a:prstGeom prst="roundRect">
            <a:avLst>
              <a:gd name="adj" fmla="val 1791"/>
            </a:avLst>
          </a:prstGeom>
          <a:solidFill>
            <a:srgbClr val="0B1F2A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788152" y="1444752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~155 TWh (2025)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788152" y="1901952"/>
            <a:ext cx="2734056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~2%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explicado por consultas de texto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~98%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treino, imagem/vídeo, IA embutida, overhead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Lição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é mais que o chatbot visível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5</a:t>
            </a:r>
            <a:endParaRPr lang="en-US" sz="7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DIFERENÇAS ENTRE MODELOS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Eficiência varia enormemente entre modelos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e otimização podem mudar o consumo em ordens de magnitude para capacidade similar.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484632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eficiência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DeepSeek: arquiteturas que reduzem energia de inferência em 50–70%.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DeepSeek-V3: 80–90% menos computação de treino que o Llama (reportado).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GPT-OSS-120B: pegada de treino ~30× menor que o GPT-4.</a:t>
            </a:r>
            <a:endParaRPr lang="en-US" sz="1400" dirty="0"/>
          </a:p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Implicação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abertos e eficientes podem democratizar a IA com menor custo energético...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...mas barateamento estimula mais uso (Jevons) — efeito líquido incerto.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23560" y="1298448"/>
            <a:ext cx="3063240" cy="1011936"/>
          </a:xfrm>
          <a:prstGeom prst="roundRect">
            <a:avLst>
              <a:gd name="adj" fmla="val 542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696712" y="1389888"/>
            <a:ext cx="2916936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50–70%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715000" y="1855013"/>
            <a:ext cx="2880360" cy="425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energia de inferência (arquiteturas DeepSeek)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23560" y="2474976"/>
            <a:ext cx="3063240" cy="1011936"/>
          </a:xfrm>
          <a:prstGeom prst="roundRect">
            <a:avLst>
              <a:gd name="adj" fmla="val 542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696712" y="2566416"/>
            <a:ext cx="2916936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~30×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5715000" y="3031541"/>
            <a:ext cx="2880360" cy="425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pegada de treino: GPT-OSS-120B vs GPT-4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23560" y="3651504"/>
            <a:ext cx="3063240" cy="1011936"/>
          </a:xfrm>
          <a:prstGeom prst="roundRect">
            <a:avLst>
              <a:gd name="adj" fmla="val 542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696712" y="3742944"/>
            <a:ext cx="2916936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80–90%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5715000" y="4208069"/>
            <a:ext cx="2880360" cy="425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computação de treino reportada (DeepSeek-V3)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5</a:t>
            </a:r>
            <a:endParaRPr lang="en-US" sz="7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É DIFÍCIL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as estimativas divergem tanto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pergunta — 'quanta energia?' — recebe respostas que diferem por ordens de magnitude.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484632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de divergência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do GPT-4: 42,4 GWh (IEA) vs. 50 GWh (MIT) vs. 50–70 GWh (UNU-INWEH).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de texto: de ~0,0005 Wh (Ifri) a ~0,3–0,42 Wh (MIT/UNU).</a:t>
            </a:r>
            <a:endParaRPr lang="en-US" sz="1400" dirty="0"/>
          </a:p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da incerteza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Escopo: só GPU vs. instalação inteira (PUE); modelo, hardware e utilização variam.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transparência: fabricantes não divulgam dados oficiais.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Postura correta: apresentar faixas, não números pontuais.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23560" y="1298448"/>
            <a:ext cx="3063240" cy="3364992"/>
          </a:xfrm>
          <a:prstGeom prst="roundRect">
            <a:avLst>
              <a:gd name="adj" fmla="val 1791"/>
            </a:avLst>
          </a:prstGeom>
          <a:solidFill>
            <a:srgbClr val="0B1F2A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788152" y="1444752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788152" y="1901952"/>
            <a:ext cx="2734056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Faixas, não pontos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incerteza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o escopo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GPU-only ou total?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a fonte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ano da estimativa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5</a:t>
            </a:r>
            <a:endParaRPr lang="en-US" sz="7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PEGADA DE UM DIA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pegada de um dia de uso de IA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Tornando concreto: quanto consome o uso pessoal intenso de IA por dia.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773936"/>
            <a:ext cx="4005072" cy="1266444"/>
          </a:xfrm>
          <a:prstGeom prst="roundRect">
            <a:avLst>
              <a:gd name="adj" fmla="val 433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30352" y="1865376"/>
            <a:ext cx="3858768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2,9 kWh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48640" y="2470480"/>
            <a:ext cx="3822192" cy="531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dia de uso (15 textos + 10 imagens + 3 vídeos) — MIT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81728" y="1773936"/>
            <a:ext cx="4005072" cy="1266444"/>
          </a:xfrm>
          <a:prstGeom prst="roundRect">
            <a:avLst>
              <a:gd name="adj" fmla="val 433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754880" y="1865376"/>
            <a:ext cx="3858768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~650 g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4773168" y="2470480"/>
            <a:ext cx="3822192" cy="531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CO₂e desse dia na Califórnia (vs &gt;1.150 g na Virg. Ocidental)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259836"/>
            <a:ext cx="4005072" cy="1266444"/>
          </a:xfrm>
          <a:prstGeom prst="roundRect">
            <a:avLst>
              <a:gd name="adj" fmla="val 433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30352" y="3351276"/>
            <a:ext cx="3858768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2,4 kWh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548640" y="3956380"/>
            <a:ext cx="3822192" cy="531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intenso de agentes (24 consultas/dia × 100 Wh)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81728" y="3259836"/>
            <a:ext cx="4005072" cy="1266444"/>
          </a:xfrm>
          <a:prstGeom prst="roundRect">
            <a:avLst>
              <a:gd name="adj" fmla="val 433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754880" y="3351276"/>
            <a:ext cx="3858768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~7%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4773168" y="3956380"/>
            <a:ext cx="3822192" cy="531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consumo elétrico diário de um americano médio (uso intenso)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uso emite ~2× mais CO₂ dependendo da matriz elétrica local (hora e lugar importam).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5</a:t>
            </a:r>
            <a:endParaRPr lang="en-US" sz="7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9F8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103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685800" y="2194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2514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Impactos no sistema elétrico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8046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da demanda e novos centros de carga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Impactos em transmissão, distribuição e confiabilidade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Estabilidade dinâmica: frequência, RoCoF e qualidade de energia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da expansão e mercados de capacidade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Flexibilidade operacional e resposta da demanda</a:t>
            </a:r>
            <a:endParaRPr lang="en-US" sz="1150" dirty="0"/>
          </a:p>
        </p:txBody>
      </p:sp>
      <p:sp>
        <p:nvSpPr>
          <p:cNvPr id="9059" name="pgnum59"/>
          <p:cNvSpPr/>
          <p:nvPr/>
        </p:nvSpPr>
        <p:spPr>
          <a:xfrm>
            <a:off x="8366760" y="4873752"/>
            <a:ext cx="320040" cy="2000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r"/>
            <a:r>
              <a:rPr lang="pt-BR" sz="850">
                <a:solidFill>
                  <a:srgbClr val="CADCFC"/>
                </a:solidFill>
                <a:latin typeface="Calibri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DA DEMANDA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demanda elétrica dos data centers nos EUA</a:t>
            </a:r>
            <a:endParaRPr lang="en-US" sz="2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298448"/>
          <a:ext cx="51206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096512"/>
            <a:ext cx="5120640" cy="585216"/>
          </a:xfrm>
          <a:prstGeom prst="roundRect">
            <a:avLst>
              <a:gd name="adj" fmla="val 781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566928" y="4114800"/>
            <a:ext cx="4901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Leitura: </a:t>
            </a: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 até 2017, depois disparou; 2028 entre 325 e 580 TWh (6,7%–12% da eletricidade dos EUA).</a:t>
            </a:r>
            <a:endParaRPr lang="en-US" sz="930" dirty="0"/>
          </a:p>
        </p:txBody>
      </p:sp>
      <p:sp>
        <p:nvSpPr>
          <p:cNvPr id="8" name="Text 5"/>
          <p:cNvSpPr/>
          <p:nvPr/>
        </p:nvSpPr>
        <p:spPr>
          <a:xfrm>
            <a:off x="5943600" y="1298448"/>
            <a:ext cx="27432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 virada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2014–2016: estável (~60 TWh).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2017: servidores de IA aceleram a curva.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2023: 176 TWh = 4,4% da eletricidade dos EUA.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2028: 74–132 GW de potência (50% utilização).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6</a:t>
            </a:r>
            <a:endParaRPr lang="en-US" sz="7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PROJEÇÕES COMPARADAS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Quanto vai crescer? Projeções divergem</a:t>
            </a:r>
            <a:endParaRPr lang="en-US" sz="2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298448"/>
          <a:ext cx="51206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096512"/>
            <a:ext cx="5120640" cy="585216"/>
          </a:xfrm>
          <a:prstGeom prst="roundRect">
            <a:avLst>
              <a:gd name="adj" fmla="val 781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566928" y="4114800"/>
            <a:ext cx="4901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Leitura: </a:t>
            </a: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Escopos e horizontes diferentes: não compare os números diretamente sem ler as definições.</a:t>
            </a:r>
            <a:endParaRPr lang="en-US" sz="930" dirty="0"/>
          </a:p>
        </p:txBody>
      </p:sp>
      <p:sp>
        <p:nvSpPr>
          <p:cNvPr id="8" name="Text 5"/>
          <p:cNvSpPr/>
          <p:nvPr/>
        </p:nvSpPr>
        <p:spPr>
          <a:xfrm>
            <a:off x="5943600" y="1298448"/>
            <a:ext cx="27432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ao escopo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Goldman: 66 GW de demanda nos EUA até 2027.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RAND: 68 GW de capacidade global de IA em 2027.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Deloitte: 123 GW de IA nos EUA até 2035 (30×).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RAND: 327 GW globais em 2030 (alta).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6</a:t>
            </a:r>
            <a:endParaRPr lang="en-US" sz="7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CENTROS DE CARGA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Novos centros de carga concentrados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cria 'ilhas' de demanda gigantesca onde antes não havia carga relevante.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484632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Concentração geográfica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 da carga de data centers dos EUA está em 15 estados (2023).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Quase metade dos DCs dos EUA em cinco clusters regionais.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Virginia: &gt;2,5–5 GW; Irlanda: 21% da eletricidade nacional.</a:t>
            </a:r>
            <a:endParaRPr lang="en-US" sz="1400" dirty="0"/>
          </a:p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importa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campus pode demandar 1–5 GW — comparável a uma metrópole.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rede local não foi projetada para essa densidade de carga.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23560" y="1298448"/>
            <a:ext cx="3063240" cy="1011936"/>
          </a:xfrm>
          <a:prstGeom prst="roundRect">
            <a:avLst>
              <a:gd name="adj" fmla="val 542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696712" y="1389888"/>
            <a:ext cx="2916936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~80%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715000" y="1855013"/>
            <a:ext cx="2880360" cy="425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carga de DC dos EUA em 15 estados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23560" y="2474976"/>
            <a:ext cx="3063240" cy="1011936"/>
          </a:xfrm>
          <a:prstGeom prst="roundRect">
            <a:avLst>
              <a:gd name="adj" fmla="val 542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696712" y="2566416"/>
            <a:ext cx="2916936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1–5 GW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5715000" y="3031541"/>
            <a:ext cx="2880360" cy="425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de um único campus de IA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23560" y="3651504"/>
            <a:ext cx="3063240" cy="1011936"/>
          </a:xfrm>
          <a:prstGeom prst="roundRect">
            <a:avLst>
              <a:gd name="adj" fmla="val 542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696712" y="3742944"/>
            <a:ext cx="2916936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GW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5715000" y="4208069"/>
            <a:ext cx="2880360" cy="425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= energia de ~5 milhões de residências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6</a:t>
            </a:r>
            <a:endParaRPr lang="en-US" sz="7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TRANSMISSÃO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Impacto na transmissão e filas de conexão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construção de data centers (1–2 anos) é muito mais rápida que a expansão da rede (anos a décadas).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484632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descompasso temporal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grandes cargas: filas de 4–8 anos; alguns pedidos esperam 7 anos.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de interconexão de geração nos EUA excedem a frota existente.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center: construído em 1–2 anos; linha de transmissão: 5–10+ anos.</a:t>
            </a:r>
            <a:endParaRPr lang="en-US" sz="1400" dirty="0"/>
          </a:p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Consequências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 dos projetos de DC em risco de atraso por restrições de rede (IEA).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Pressão por geração local (gás, nuclear dedicado) para contornar a rede.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23560" y="1298448"/>
            <a:ext cx="3063240" cy="1011936"/>
          </a:xfrm>
          <a:prstGeom prst="roundRect">
            <a:avLst>
              <a:gd name="adj" fmla="val 542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696712" y="1389888"/>
            <a:ext cx="2916936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4–8 anos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715000" y="1855013"/>
            <a:ext cx="2880360" cy="425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típica de conexão de grande carga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23560" y="2474976"/>
            <a:ext cx="3063240" cy="1011936"/>
          </a:xfrm>
          <a:prstGeom prst="roundRect">
            <a:avLst>
              <a:gd name="adj" fmla="val 542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696712" y="2566416"/>
            <a:ext cx="2916936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anos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5715000" y="3031541"/>
            <a:ext cx="2880360" cy="425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 em alguns pedidos (Deloitte)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23560" y="3651504"/>
            <a:ext cx="3063240" cy="1011936"/>
          </a:xfrm>
          <a:prstGeom prst="roundRect">
            <a:avLst>
              <a:gd name="adj" fmla="val 542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696712" y="3742944"/>
            <a:ext cx="2916936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~20%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5715000" y="4208069"/>
            <a:ext cx="2880360" cy="425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projetos de DC em risco de atraso (IEA)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6</a:t>
            </a:r>
            <a:endParaRPr lang="en-US" sz="7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Impacto na distribuição e qualidade de energia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Cargas eletrônicas de alta densidade introduzem distúrbios que a rede local precisa absorver.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484632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de energia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Distorção harmônica (THD) frequentemente &gt;5–10%, acima de limites da IEEE 519.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3º, 5º e 7º harmônicos dominantes; UPS de dupla conversão são fonte.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Quedas de tensão (sags) por variações abruptas de 10–20 MW.</a:t>
            </a:r>
            <a:endParaRPr lang="en-US" sz="1400" dirty="0"/>
          </a:p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Efeitos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Fator de potência degradado reduz eficiência de transmissão em 10–15%.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Mitigação: filtros ativos (APF/SVG) reduzem THD para &lt;3%.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23560" y="1298448"/>
            <a:ext cx="3063240" cy="3364992"/>
          </a:xfrm>
          <a:prstGeom prst="roundRect">
            <a:avLst>
              <a:gd name="adj" fmla="val 1791"/>
            </a:avLst>
          </a:prstGeom>
          <a:solidFill>
            <a:srgbClr val="0B1F2A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788152" y="1444752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de energia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788152" y="1901952"/>
            <a:ext cx="2734056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THD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&gt;5–10% (limite IEEE 519: 5%)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eletrônica de potência (UPS, PSU)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ativos → THD &lt;3%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6</a:t>
            </a:r>
            <a:endParaRPr lang="en-US" sz="7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CONFIABILIDADE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Confiabilidade: eventos reais na rede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Cargas grandes que se desconectam ou variam abruptamente ameaçam a estabilidade.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773936"/>
            <a:ext cx="2596896" cy="1266444"/>
          </a:xfrm>
          <a:prstGeom prst="roundRect">
            <a:avLst>
              <a:gd name="adj" fmla="val 433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30352" y="1865376"/>
            <a:ext cx="2450592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2.600 MW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48640" y="2470480"/>
            <a:ext cx="2414016" cy="531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perda súbita no ERCOT levou a frequência a 60,4 Hz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73552" y="1773936"/>
            <a:ext cx="2596896" cy="1266444"/>
          </a:xfrm>
          <a:prstGeom prst="roundRect">
            <a:avLst>
              <a:gd name="adj" fmla="val 433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346704" y="1865376"/>
            <a:ext cx="2450592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1,5 GW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3364992" y="2470480"/>
            <a:ext cx="2414016" cy="531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de carga em 60 DCs (Dominion)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89904" y="1773936"/>
            <a:ext cx="2596896" cy="1266444"/>
          </a:xfrm>
          <a:prstGeom prst="roundRect">
            <a:avLst>
              <a:gd name="adj" fmla="val 433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163056" y="1865376"/>
            <a:ext cx="2450592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 DCs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6181344" y="2470480"/>
            <a:ext cx="2414016" cy="531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desconectaram juntos na Virgínia (2024)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259836"/>
            <a:ext cx="2596896" cy="1266444"/>
          </a:xfrm>
          <a:prstGeom prst="roundRect">
            <a:avLst>
              <a:gd name="adj" fmla="val 433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0352" y="3351276"/>
            <a:ext cx="2450592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~1.500 MW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548640" y="3956380"/>
            <a:ext cx="2414016" cy="531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perda em evento de sobrefrequência (jul/2024)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73552" y="3259836"/>
            <a:ext cx="2596896" cy="1266444"/>
          </a:xfrm>
          <a:prstGeom prst="roundRect">
            <a:avLst>
              <a:gd name="adj" fmla="val 433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3346704" y="3351276"/>
            <a:ext cx="2450592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298 MW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3364992" y="3956380"/>
            <a:ext cx="2414016" cy="531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rampa de queda em 25 s (instalação cripto, NERC)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89904" y="3259836"/>
            <a:ext cx="2596896" cy="1266444"/>
          </a:xfrm>
          <a:prstGeom prst="roundRect">
            <a:avLst>
              <a:gd name="adj" fmla="val 433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163056" y="3351276"/>
            <a:ext cx="2450592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±5–10%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6181344" y="3956380"/>
            <a:ext cx="2414016" cy="531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desvios de tensão em redes fracas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Cargas de IA podem ligar/desligar em segundos — comportamento atípico para o qual a rede não foi planejada.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6</a:t>
            </a:r>
            <a:endParaRPr lang="en-US" sz="7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ESTABILIDADE DINÂMICA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Estabilidade transitória: frequência e RoCoF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redes com pouca inércia, perdas súbitas de carga causam variações rápidas de frequência.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484632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caso irlandês (evento real)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falha causou queda de 204 MW de demanda de DC.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RoCoF de 0,12 Hz/s e pico de frequência de 50,22 Hz.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DCs na Irlanda: 800 MW de 7 GW de pico → rumo a 1,6 GW (~30%) em 2030.</a:t>
            </a:r>
            <a:endParaRPr lang="en-US" sz="1400" dirty="0"/>
          </a:p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RoCoF = taxa de variação da frequência; alta = risco de disparo de proteções.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Cargas de IA pulsantes ('flapping') e síncronas amplificam o efeito.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23560" y="1298448"/>
            <a:ext cx="3063240" cy="3364992"/>
          </a:xfrm>
          <a:prstGeom prst="roundRect">
            <a:avLst>
              <a:gd name="adj" fmla="val 1791"/>
            </a:avLst>
          </a:prstGeom>
          <a:solidFill>
            <a:srgbClr val="0B1F2A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788152" y="1444752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é grave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788152" y="1901952"/>
            <a:ext cx="2734056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inércia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renováveis reduzem a inércia da rede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Cargas pulsantes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liga/desliga em bloco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RoCoF alto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 proteções em cascata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6</a:t>
            </a:r>
            <a:endParaRPr lang="en-US" sz="7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E MERCADOS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Planejamento da expansão e mercados de capacidade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demanda de IA já se reflete nos preços de capacidade e nos custos para o consumidor.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484632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caso PJM (maior mercado dos EUA)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Leilão de capacidade: US$ 2,2 bi (2024) → US$ 14,7 bi (2025), ~7×.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2026-27: US$ 329/MW-dia vs. US$ 28,9 anterior (&gt;10×).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de pico 2024-2030: 32 GW, dos quais 30 GW (94%) de data centers.</a:t>
            </a:r>
            <a:endParaRPr lang="en-US" sz="1400" dirty="0"/>
          </a:p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Implicações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Contas de luz podem subir ~8% até 2030 (até 25% em algumas regiões).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Tensão entre atrair investimento e proteger consumidores (affordability).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23560" y="1298448"/>
            <a:ext cx="3063240" cy="1011936"/>
          </a:xfrm>
          <a:prstGeom prst="roundRect">
            <a:avLst>
              <a:gd name="adj" fmla="val 542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696712" y="1389888"/>
            <a:ext cx="2916936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7×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715000" y="1855013"/>
            <a:ext cx="2880360" cy="425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do leilão de capacidade PJM (2024→2025)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23560" y="2474976"/>
            <a:ext cx="3063240" cy="1011936"/>
          </a:xfrm>
          <a:prstGeom prst="roundRect">
            <a:avLst>
              <a:gd name="adj" fmla="val 542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696712" y="2566416"/>
            <a:ext cx="2916936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94%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5715000" y="3031541"/>
            <a:ext cx="2880360" cy="425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crescimento de pico do PJM vem de DCs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23560" y="3651504"/>
            <a:ext cx="3063240" cy="1011936"/>
          </a:xfrm>
          <a:prstGeom prst="roundRect">
            <a:avLst>
              <a:gd name="adj" fmla="val 542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696712" y="3742944"/>
            <a:ext cx="2916936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~8%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5715000" y="4208069"/>
            <a:ext cx="2880360" cy="425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 projetado nas contas até 2030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6</a:t>
            </a:r>
            <a:endParaRPr lang="en-US" sz="7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FLEXIBILIDADE OPERACIONAL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Flexibilidade: a carga de IA pode ajudar a rede?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data centers aceitarem pequenas reduções de disponibilidade, liberam enorme capacidade de rede.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484632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potencial (estudo Duke)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0,25% do uptime → libera 76 GW na rede dos EUA.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1% do uptime → libera 126 GW (~10% da capacidade dos EUA).</a:t>
            </a:r>
            <a:endParaRPr lang="en-US" sz="1400" dirty="0"/>
          </a:p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é viável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&gt;50% das cargas de IA são tolerantes a atraso (treino, batch).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rede dos EUA opera a ~53% da capacidade — há folga fora do pico.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 e geração local permitem 'esconder' picos da rede.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23560" y="1298448"/>
            <a:ext cx="3063240" cy="1011936"/>
          </a:xfrm>
          <a:prstGeom prst="roundRect">
            <a:avLst>
              <a:gd name="adj" fmla="val 542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696712" y="1389888"/>
            <a:ext cx="2916936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 GW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715000" y="1855013"/>
            <a:ext cx="2880360" cy="425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liberados com 0,25% menos uptime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23560" y="2474976"/>
            <a:ext cx="3063240" cy="1011936"/>
          </a:xfrm>
          <a:prstGeom prst="roundRect">
            <a:avLst>
              <a:gd name="adj" fmla="val 542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696712" y="2566416"/>
            <a:ext cx="2916936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126 GW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5715000" y="3031541"/>
            <a:ext cx="2880360" cy="425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liberados com 1% menos uptime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23560" y="3651504"/>
            <a:ext cx="3063240" cy="1011936"/>
          </a:xfrm>
          <a:prstGeom prst="roundRect">
            <a:avLst>
              <a:gd name="adj" fmla="val 542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696712" y="3742944"/>
            <a:ext cx="2916936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&gt;50%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5715000" y="4208069"/>
            <a:ext cx="2880360" cy="425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cargas de IA toleram atraso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6</a:t>
            </a:r>
            <a:endParaRPr lang="en-US" sz="7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DA DEMANDA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Resposta da demanda e deslocamento de carga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cargas no tempo e no espaço alivia a rede e reduz emissões.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484632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Mecanismos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Deslocamento temporal: rodar cargas adiáveis fora do pico (preços/sinais de rede).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Deslocamento espacial: enviar trabalho para regiões com folga ou energia limpa.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Acoplamento com VEs e armazenamento como cargas/recursos flexíveis.</a:t>
            </a:r>
            <a:endParaRPr lang="en-US" sz="1400" dirty="0"/>
          </a:p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Ganhos reportados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de preços coordenada reduz flutuações de carga em &gt;20% e ocupação de linhas ~15%.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Deslocamento espacial sensível a carbono corta emissões ~10%.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23560" y="1298448"/>
            <a:ext cx="3063240" cy="3364992"/>
          </a:xfrm>
          <a:prstGeom prst="roundRect">
            <a:avLst>
              <a:gd name="adj" fmla="val 1791"/>
            </a:avLst>
          </a:prstGeom>
          <a:solidFill>
            <a:srgbClr val="0B1F2A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788152" y="1444752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dimensões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788152" y="1901952"/>
            <a:ext cx="2734056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quando há folga/energia limpa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onde há folga/energia limpa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−20% flutuação; −10% emissões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6</a:t>
            </a:r>
            <a:endParaRPr lang="en-US" sz="7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REGULAÇÃO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Mercados e regulação se adaptando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regulatórios tradicionais encontram um crescimento de demanda sem precedentes.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484632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instrumentos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ERCOT (Texas) SB-6: redefine interconexão para cargas &gt;75 MW.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PJM: proposta de 'Non-Capacity-Backed Loads' (&gt;50 MW) e 'kill switch' remoto.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FERC: caso Amazon-Talen (co-location nuclear) rejeitado 2-1 (nov/2024).</a:t>
            </a:r>
            <a:endParaRPr lang="en-US" sz="1400" dirty="0"/>
          </a:p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Lacunas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NERC governa diretamente &lt;5% da capacidade de DC dos EUA.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Tensão entre estabilidade, sustentabilidade, affordability e não-discriminação.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23560" y="1298448"/>
            <a:ext cx="3063240" cy="3364992"/>
          </a:xfrm>
          <a:prstGeom prst="roundRect">
            <a:avLst>
              <a:gd name="adj" fmla="val 1791"/>
            </a:avLst>
          </a:prstGeom>
          <a:solidFill>
            <a:srgbClr val="0B1F2A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788152" y="1444752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tensões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788152" y="1901952"/>
            <a:ext cx="2734056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Estabilidade da rede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Sustentabilidade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 (preço)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Não-discriminação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Independência regulatória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6</a:t>
            </a:r>
            <a:endParaRPr lang="en-US" sz="7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DA PARTE 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levar da Parte 6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2596896" cy="1371600"/>
          </a:xfrm>
          <a:prstGeom prst="roundRect">
            <a:avLst>
              <a:gd name="adj" fmla="val 4000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30352" y="1389888"/>
            <a:ext cx="2450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4,4%→12%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2052828"/>
            <a:ext cx="241401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eletricidade dos EUA em DCs: 2023 → 2028 (LBNL)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73552" y="1298448"/>
            <a:ext cx="2596896" cy="1371600"/>
          </a:xfrm>
          <a:prstGeom prst="roundRect">
            <a:avLst>
              <a:gd name="adj" fmla="val 4000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346704" y="1389888"/>
            <a:ext cx="2450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94%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3364992" y="2052828"/>
            <a:ext cx="241401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crescimento de pico do PJM vem de DCs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89904" y="1298448"/>
            <a:ext cx="2596896" cy="1371600"/>
          </a:xfrm>
          <a:prstGeom prst="roundRect">
            <a:avLst>
              <a:gd name="adj" fmla="val 4000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163056" y="1389888"/>
            <a:ext cx="2450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4–8 anos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6181344" y="2052828"/>
            <a:ext cx="241401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de conexão vs. 1–2 anos para construir um DC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889504"/>
            <a:ext cx="2596896" cy="1371600"/>
          </a:xfrm>
          <a:prstGeom prst="roundRect">
            <a:avLst>
              <a:gd name="adj" fmla="val 4000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30352" y="2980944"/>
            <a:ext cx="2450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60,4 Hz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548640" y="3643884"/>
            <a:ext cx="241401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desvio de frequência por perda de 2.600 MW (ERCOT)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73552" y="2889504"/>
            <a:ext cx="2596896" cy="1371600"/>
          </a:xfrm>
          <a:prstGeom prst="roundRect">
            <a:avLst>
              <a:gd name="adj" fmla="val 4000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3346704" y="2980944"/>
            <a:ext cx="2450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126 GW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3364992" y="3643884"/>
            <a:ext cx="241401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liberáveis com 1% menos uptime (flexibilidade)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89904" y="2889504"/>
            <a:ext cx="2596896" cy="1371600"/>
          </a:xfrm>
          <a:prstGeom prst="roundRect">
            <a:avLst>
              <a:gd name="adj" fmla="val 4000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163056" y="2980944"/>
            <a:ext cx="2450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tensões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6181344" y="3643884"/>
            <a:ext cx="241401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 regulatório (Lo Schiavo)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6</a:t>
            </a:r>
            <a:endParaRPr lang="en-US" sz="7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9F8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103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685800" y="2194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2514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Emissões de carbono e sustentabilidade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8046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Pegada de carbono da IA: treino e inferência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matriz elétrica define as emissões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 renovável, PPAs e o renascimento nuclear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Água, terra, e-lixo e comparação entre países</a:t>
            </a:r>
            <a:endParaRPr lang="en-US" sz="1150" dirty="0"/>
          </a:p>
        </p:txBody>
      </p:sp>
      <p:sp>
        <p:nvSpPr>
          <p:cNvPr id="9572" name="pgn72"/>
          <p:cNvSpPr/>
          <p:nvPr/>
        </p:nvSpPr>
        <p:spPr>
          <a:xfrm>
            <a:off x="8366760" y="4873752"/>
            <a:ext cx="320040" cy="2000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r"/>
            <a:r>
              <a:rPr lang="pt-BR" sz="850">
                <a:solidFill>
                  <a:srgbClr val="CADCFC"/>
                </a:solidFill>
                <a:latin typeface="Calibri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PEGADA DE CARBONO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pegada de carbono da IA em números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Pequena no total energético global, mas crescente, concentrada e mais 'suja' que a média.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773936"/>
            <a:ext cx="2596896" cy="1266444"/>
          </a:xfrm>
          <a:prstGeom prst="roundRect">
            <a:avLst>
              <a:gd name="adj" fmla="val 433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30352" y="1865376"/>
            <a:ext cx="2450592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180 Mt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48640" y="2470480"/>
            <a:ext cx="2414016" cy="531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de data centers em 2024 (IEA)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73552" y="1773936"/>
            <a:ext cx="2596896" cy="1266444"/>
          </a:xfrm>
          <a:prstGeom prst="roundRect">
            <a:avLst>
              <a:gd name="adj" fmla="val 433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346704" y="1865376"/>
            <a:ext cx="2450592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300 Mt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3364992" y="2470480"/>
            <a:ext cx="2414016" cy="531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projeção para 2035, Cenário Base (IEA)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89904" y="1773936"/>
            <a:ext cx="2596896" cy="1266444"/>
          </a:xfrm>
          <a:prstGeom prst="roundRect">
            <a:avLst>
              <a:gd name="adj" fmla="val 433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163056" y="1865376"/>
            <a:ext cx="2450592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189 Mt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6181344" y="2470480"/>
            <a:ext cx="2414016" cy="531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CO₂e de data centers em 2025 (UNU-INWEH)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259836"/>
            <a:ext cx="2596896" cy="1266444"/>
          </a:xfrm>
          <a:prstGeom prst="roundRect">
            <a:avLst>
              <a:gd name="adj" fmla="val 433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0352" y="3351276"/>
            <a:ext cx="2450592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+48%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548640" y="3956380"/>
            <a:ext cx="2414016" cy="531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intensidade de carbono dos DCs vs. média dos EUA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73552" y="3259836"/>
            <a:ext cx="2596896" cy="1266444"/>
          </a:xfrm>
          <a:prstGeom prst="roundRect">
            <a:avLst>
              <a:gd name="adj" fmla="val 433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3346704" y="3351276"/>
            <a:ext cx="2450592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&lt;1,5%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3364992" y="3956380"/>
            <a:ext cx="2414016" cy="531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emissões do setor de energia (mantém-se)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89904" y="3259836"/>
            <a:ext cx="2596896" cy="1266444"/>
          </a:xfrm>
          <a:prstGeom prst="roundRect">
            <a:avLst>
              <a:gd name="adj" fmla="val 433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163056" y="3351276"/>
            <a:ext cx="2450592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~5%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6181344" y="3956380"/>
            <a:ext cx="2414016" cy="531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emissões que a IA poderia EVITAR na economia (IEA)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do GPT-4 ≈ 25.000 t CO₂e; a inferência, repetida em escala, domina as emissões operacionais.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7</a:t>
            </a:r>
            <a:endParaRPr lang="en-US" sz="7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MATRIZ IMPORTA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carbono depende de onde a IA roda</a:t>
            </a:r>
            <a:endParaRPr lang="en-US" sz="2300" dirty="0"/>
          </a:p>
        </p:txBody>
      </p:sp>
      <p:pic>
        <p:nvPicPr>
          <p:cNvPr id="5" name="Image 0" descr="charts/carb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98448"/>
            <a:ext cx="5120640" cy="32278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0" y="1298448"/>
            <a:ext cx="2743200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~19× de diferença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França/Suécia: ~37–40 g (nuclear/hidro/renovável).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EUA/Alemanha: ~370–380 g (mix).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China/Índia: 580–713 g (carvão).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 = β × PUE: a localização é a maior alavanca.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Brasil: baixa intensidade (hidrelétrica), mas alto uso de água.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462686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Intensidade de carbono da eletricidade por país (aprox.). Fonte: UNU-INWEH (2026).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7</a:t>
            </a:r>
            <a:endParaRPr lang="en-US" sz="7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RENOVÁVEIS, PPAS E NUCLEAR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Energia limpa e a busca por energia firme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big techs compram muita renovável — mas a IA 24/7 reacende o nuclear e o gás.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484632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corporativas de renováveis (2021)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18,3 TWh; Microsoft 13 TWh; Meta 9,4 TWh; Apple 2,8 TWh.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PPA (Power Purchase Agreement): contrato de longo prazo (10–25 anos) de energia limpa.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IEA: metade do crescimento de demanda de DC até 2035 atendido por renováveis.</a:t>
            </a:r>
            <a:endParaRPr lang="en-US" sz="1400" dirty="0"/>
          </a:p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 firme: o renascimento nuclear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Renováveis intermitentes não bastam para carga 24/7 (lembre o fator de capacidade).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Microsoft–Three Mile Island (835 MW); AWS–Talen (960 MW); Google–Kairos SMRs (~2030).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23560" y="1298448"/>
            <a:ext cx="3063240" cy="1011936"/>
          </a:xfrm>
          <a:prstGeom prst="roundRect">
            <a:avLst>
              <a:gd name="adj" fmla="val 542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696712" y="1389888"/>
            <a:ext cx="2916936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18,3 TWh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715000" y="1855013"/>
            <a:ext cx="2880360" cy="425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renováveis do Google (2021)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23560" y="2474976"/>
            <a:ext cx="3063240" cy="1011936"/>
          </a:xfrm>
          <a:prstGeom prst="roundRect">
            <a:avLst>
              <a:gd name="adj" fmla="val 542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696712" y="2566416"/>
            <a:ext cx="2916936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835 MW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5715000" y="3031541"/>
            <a:ext cx="2880360" cy="425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Mile Island religado p/ Microsoft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23560" y="3651504"/>
            <a:ext cx="3063240" cy="1011936"/>
          </a:xfrm>
          <a:prstGeom prst="roundRect">
            <a:avLst>
              <a:gd name="adj" fmla="val 542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696712" y="3742944"/>
            <a:ext cx="2916936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½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5715000" y="4208069"/>
            <a:ext cx="2880360" cy="425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crescimento de DC por renováveis (IEA)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7</a:t>
            </a:r>
            <a:endParaRPr lang="en-US" sz="7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NEUTRALIDADE DE CARBONO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Neutralidade de carbono: promessas e limites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metas existem — mas o 'quando' e o 'como' exigem escrutínio.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484632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corporativas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net-zero operacional desde 2020; Amazon: net-zero até 2040.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Microsoft/Google: meta de operar com energia limpa 24/7 (CFE).</a:t>
            </a:r>
            <a:endParaRPr lang="en-US" sz="1400" dirty="0"/>
          </a:p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 perguntas críticas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Quando? Compensação ANUAL ≠ energia limpa 24/7 (à noite roda-se com a rede suja).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Adicionalidade: o PPA criou capacidade limpa NOVA ou só comprou existente?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Líquido: a demanda cresce mais rápido que a oferta limpa?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23560" y="1298448"/>
            <a:ext cx="3063240" cy="3364992"/>
          </a:xfrm>
          <a:prstGeom prst="roundRect">
            <a:avLst>
              <a:gd name="adj" fmla="val 1791"/>
            </a:avLst>
          </a:prstGeom>
          <a:solidFill>
            <a:srgbClr val="0B1F2A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788152" y="1444752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críticas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788152" y="1901952"/>
            <a:ext cx="2734056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Quando?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limpo 24/7 ou só na média anual?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Adicional?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nova ou existente?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Líquido?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supera a oferta limpa?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7</a:t>
            </a:r>
            <a:endParaRPr lang="en-US" sz="7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ALÉM DO CARBONO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Água, terra e e-lixo: as outras pegadas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sustentabilidade da IA é multidimensional — e há trade-offs entre as dimensões.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484632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Água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centers (2025): ~4,5 trilhões de litros; intensidade média EUA ~4,35 L/kWh.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terços dos novos DCs dos EUA em regiões de estresse hídrico.</a:t>
            </a:r>
            <a:endParaRPr lang="en-US" sz="1400" dirty="0"/>
          </a:p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Terra, materiais e e-lixo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Pegada de terra (2025): ~6.900 km² (≈4,5× a Grande Londres).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E-lixo: até 2,5 milhões de toneladas/ano até 2030.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 críticos (ex.: gálio — China refina ~99%): vulnerabilidade geopolítica.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23560" y="1298448"/>
            <a:ext cx="3063240" cy="1011936"/>
          </a:xfrm>
          <a:prstGeom prst="roundRect">
            <a:avLst>
              <a:gd name="adj" fmla="val 542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696712" y="1389888"/>
            <a:ext cx="2916936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4,5 tri L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715000" y="1855013"/>
            <a:ext cx="2880360" cy="425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água de data centers em 2025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23560" y="2474976"/>
            <a:ext cx="3063240" cy="1011936"/>
          </a:xfrm>
          <a:prstGeom prst="roundRect">
            <a:avLst>
              <a:gd name="adj" fmla="val 542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696712" y="2566416"/>
            <a:ext cx="2916936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⅔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5715000" y="3031541"/>
            <a:ext cx="2880360" cy="425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novos DCs em estresse hídrico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23560" y="3651504"/>
            <a:ext cx="3063240" cy="1011936"/>
          </a:xfrm>
          <a:prstGeom prst="roundRect">
            <a:avLst>
              <a:gd name="adj" fmla="val 542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696712" y="3742944"/>
            <a:ext cx="2916936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2,5 mi t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5715000" y="4208069"/>
            <a:ext cx="2880360" cy="425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e-lixo/ano até 2030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7</a:t>
            </a:r>
            <a:endParaRPr lang="en-US" sz="7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ENTRE PAÍSES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Comparando países: carbono, água e contexto</a:t>
            </a:r>
            <a:endParaRPr lang="en-US" sz="2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8229600" cy="25603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País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Carbono vs. média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Água vs. média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−88% (≈37 g/kWh)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Nuclear dominante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Suécia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muito baixa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Hidro/nuclear; alta água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 absoluta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45% dos DCs globais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 dos DCs; carvão+renováveis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Índia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 a carvão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Brasil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baixa (hidro)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+191%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Hidrelétrica; alta água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60857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relativos à média global (UNU-INWEH, 2026). Um país 'limpo' em carbono pode ser intensivo em água.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850" dirty="0"/>
          </a:p>
        </p:txBody>
      </p:sp>
      <p:sp>
        <p:nvSpPr>
          <p:cNvPr id="5" name="Text 5"/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7</a:t>
            </a:r>
            <a:endParaRPr lang="en-US" sz="7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9F8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103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685800" y="2194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2514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Estratégias de mitigação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8046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camadas: modelo, hardware, data center, sistema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Compressão de modelos e Mixture of Experts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Refrigeração avançada e IA para otimizar data centers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Ganhos reportados e os limites da eficiência (Jevons)</a:t>
            </a:r>
            <a:endParaRPr lang="en-US" sz="1150" dirty="0"/>
          </a:p>
        </p:txBody>
      </p:sp>
      <p:sp>
        <p:nvSpPr>
          <p:cNvPr id="9579" name="pgn79"/>
          <p:cNvSpPr/>
          <p:nvPr/>
        </p:nvSpPr>
        <p:spPr>
          <a:xfrm>
            <a:off x="8366760" y="4873752"/>
            <a:ext cx="320040" cy="2000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r"/>
            <a:r>
              <a:rPr lang="pt-BR" sz="850">
                <a:solidFill>
                  <a:srgbClr val="CADCFC"/>
                </a:solidFill>
                <a:latin typeface="Calibri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TAXONOMIA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Quatro camadas de mitigação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energia pode ser reduzida em cada nível — e os ganhos se compõem.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484632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computação à rede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Modelo: compressão (quantização, distillation, pruning) e MoE.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Hardware: aceleradores eficientes, FP8/INT8, FLOPs/W.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Data center: refrigeração avançada, recuperação de calor, PUE baixo.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Sistema: alocação inteligente, flexibilidade, integração com renováveis.</a:t>
            </a:r>
            <a:endParaRPr lang="en-US" sz="1400" dirty="0"/>
          </a:p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composta: ganhos no modelo × hardware × PUE × matriz limpa se multiplicam.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23560" y="1298448"/>
            <a:ext cx="3063240" cy="3364992"/>
          </a:xfrm>
          <a:prstGeom prst="roundRect">
            <a:avLst>
              <a:gd name="adj" fmla="val 1791"/>
            </a:avLst>
          </a:prstGeom>
          <a:solidFill>
            <a:srgbClr val="0B1F2A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788152" y="1444752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Pilha de eficiência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788152" y="1901952"/>
            <a:ext cx="2734056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compressão, MoE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FP8, ASICs, FLOPs/W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refrigeração, PUE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scheduling, renováveis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8</a:t>
            </a:r>
            <a:endParaRPr lang="en-US" sz="7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COMPRESSÃO DE MODELOS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Compressão: quantização, distillation, pruning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o tamanho efetivo do modelo corta memória, computação e energia.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484632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Quantização — menos bits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Int4: ~4× menos memória; 8/4 bits podem ~reduzir pela metade a energia. FP8 no treino (DeepSeek).</a:t>
            </a:r>
            <a:endParaRPr lang="en-US" sz="1400" dirty="0"/>
          </a:p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 — aluno e professor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modelo pequeno aprende a imitar um grande: inferência muito mais barata.</a:t>
            </a:r>
            <a:endParaRPr lang="en-US" sz="1400" dirty="0"/>
          </a:p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 — remover o redundante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Esparsidade estruturada de 50%: −75% de memória, +40% de vazão.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atacam o 'memory wall': menos bytes movidos = menos energia.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23560" y="1298448"/>
            <a:ext cx="3063240" cy="1011936"/>
          </a:xfrm>
          <a:prstGeom prst="roundRect">
            <a:avLst>
              <a:gd name="adj" fmla="val 542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696712" y="1389888"/>
            <a:ext cx="2916936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~4×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715000" y="1855013"/>
            <a:ext cx="2880360" cy="425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memória com int4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23560" y="2474976"/>
            <a:ext cx="3063240" cy="1011936"/>
          </a:xfrm>
          <a:prstGeom prst="roundRect">
            <a:avLst>
              <a:gd name="adj" fmla="val 542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696712" y="2566416"/>
            <a:ext cx="2916936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até 70%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5715000" y="3031541"/>
            <a:ext cx="2880360" cy="425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com LoRA/PEFT (fine-tuning)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23560" y="3651504"/>
            <a:ext cx="3063240" cy="1011936"/>
          </a:xfrm>
          <a:prstGeom prst="roundRect">
            <a:avLst>
              <a:gd name="adj" fmla="val 542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696712" y="3742944"/>
            <a:ext cx="2916936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&gt;90%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5715000" y="4208069"/>
            <a:ext cx="2880360" cy="425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possível combinando técnicas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8</a:t>
            </a:r>
            <a:endParaRPr lang="en-US" sz="75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MIXTURE OF EXPERTS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Mixture of Experts: ativar só o necessário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modelo enorme dividido em 'especialistas', dos quais poucos são ativados por token.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484632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conceito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Muitos 'experts'; um roteador escolhe poucos por token.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total alta, mas computação por token baixa.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DeepSeek-V3: 671 bi de parâmetros totais, mas só ~37 bi ativos por token (~5,5%).</a:t>
            </a:r>
            <a:endParaRPr lang="en-US" sz="1400" dirty="0"/>
          </a:p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e desafio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 de inferência cai na proporção dos experts ativados.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Desafio: balanceamento de carga e overhead de roteamento.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23560" y="1298448"/>
            <a:ext cx="3063240" cy="1011936"/>
          </a:xfrm>
          <a:prstGeom prst="roundRect">
            <a:avLst>
              <a:gd name="adj" fmla="val 542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696712" y="1389888"/>
            <a:ext cx="2916936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671 bi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715000" y="1855013"/>
            <a:ext cx="2880360" cy="425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 totais do DeepSeek-V3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23560" y="2474976"/>
            <a:ext cx="3063240" cy="1011936"/>
          </a:xfrm>
          <a:prstGeom prst="roundRect">
            <a:avLst>
              <a:gd name="adj" fmla="val 542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696712" y="2566416"/>
            <a:ext cx="2916936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~37 bi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5715000" y="3031541"/>
            <a:ext cx="2880360" cy="425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ativos por token (~5,5%)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23560" y="3651504"/>
            <a:ext cx="3063240" cy="1011936"/>
          </a:xfrm>
          <a:prstGeom prst="roundRect">
            <a:avLst>
              <a:gd name="adj" fmla="val 542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696712" y="3742944"/>
            <a:ext cx="2916936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∝ experts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5715000" y="4208069"/>
            <a:ext cx="2880360" cy="425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 cai com nº de experts ativos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8</a:t>
            </a:r>
            <a:endParaRPr lang="en-US" sz="75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E REFRIGERAÇÃO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Hardware eficiente e refrigeração avançada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camadas físicas: mais FLOPs/W e menos energia para remover o calor.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484632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Especialização (GPU→TPU→ASIC) e precisão reduzida (FP8/INT8) elevam os FLOPs/W.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Limite: eficiência do hardware cresce ~1,3×/ano; a demanda, 4–5×/ano.</a:t>
            </a:r>
            <a:endParaRPr lang="en-US" sz="1400" dirty="0"/>
          </a:p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Refrigeração avançada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Líquido/imersão: −30–40% de energia de refrigeração (PUE até ~1,03).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cooling (clima frio): −50–70%. Elevar a temperatura: −20–40%.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Recuperação de calor: reaproveita o calor residual (aquecimento, estufas).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23560" y="1298448"/>
            <a:ext cx="3063240" cy="1011936"/>
          </a:xfrm>
          <a:prstGeom prst="roundRect">
            <a:avLst>
              <a:gd name="adj" fmla="val 542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696712" y="1389888"/>
            <a:ext cx="2916936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30–40%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715000" y="1855013"/>
            <a:ext cx="2880360" cy="425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de refrigeração com líquido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23560" y="2474976"/>
            <a:ext cx="3063240" cy="1011936"/>
          </a:xfrm>
          <a:prstGeom prst="roundRect">
            <a:avLst>
              <a:gd name="adj" fmla="val 542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696712" y="2566416"/>
            <a:ext cx="2916936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~1,03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5715000" y="3031541"/>
            <a:ext cx="2880360" cy="425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 alcançável com imersão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23560" y="3651504"/>
            <a:ext cx="3063240" cy="1011936"/>
          </a:xfrm>
          <a:prstGeom prst="roundRect">
            <a:avLst>
              <a:gd name="adj" fmla="val 542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696712" y="3742944"/>
            <a:ext cx="2916936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1,3 vs 4–5×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5715000" y="4208069"/>
            <a:ext cx="2880360" cy="425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de HW vs. demanda/ano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8</a:t>
            </a:r>
            <a:endParaRPr lang="en-US" sz="75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 IA OTIMIZANDO IA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Alocação inteligente e IA para otimizar data centers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o que rodar, quando, onde e a que velocidade — e usar ML para isso.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484632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Alocação inteligente de cargas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DVFS (ajustar frequência/tensão): −27% com −10% de frequência.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Consolidação de VMs; escalonamento sensível a energia/carbono.</a:t>
            </a:r>
            <a:endParaRPr lang="en-US" sz="1400" dirty="0"/>
          </a:p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otimizando o data center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DeepMind no Google: −40% de energia de refrigeração via redes neurais.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twins + RL: −41% em refrigeração; previsão de carga (LSTM).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realocam cargas entre data centers para minimizar custo/carbono.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23560" y="1298448"/>
            <a:ext cx="3063240" cy="1011936"/>
          </a:xfrm>
          <a:prstGeom prst="roundRect">
            <a:avLst>
              <a:gd name="adj" fmla="val 542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696712" y="1389888"/>
            <a:ext cx="2916936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−40%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715000" y="1855013"/>
            <a:ext cx="2880360" cy="425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refrigeração (DeepMind/Google)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23560" y="2474976"/>
            <a:ext cx="3063240" cy="1011936"/>
          </a:xfrm>
          <a:prstGeom prst="roundRect">
            <a:avLst>
              <a:gd name="adj" fmla="val 542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696712" y="2566416"/>
            <a:ext cx="2916936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−27%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5715000" y="3031541"/>
            <a:ext cx="2880360" cy="425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DVFS (−10% de frequência)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23560" y="3651504"/>
            <a:ext cx="3063240" cy="1011936"/>
          </a:xfrm>
          <a:prstGeom prst="roundRect">
            <a:avLst>
              <a:gd name="adj" fmla="val 542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696712" y="3742944"/>
            <a:ext cx="2916936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até −50%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5715000" y="4208069"/>
            <a:ext cx="2880360" cy="425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 com governança por IA (&lt;9% perda)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8</a:t>
            </a:r>
            <a:endParaRPr lang="en-US" sz="75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GANHOS REPORTADOS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Ganhos energéticos reportados na literatura</a:t>
            </a:r>
            <a:endParaRPr lang="en-US" sz="2300" dirty="0"/>
          </a:p>
        </p:txBody>
      </p:sp>
      <p:pic>
        <p:nvPicPr>
          <p:cNvPr id="5" name="Image 0" descr="charts/saving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98448"/>
            <a:ext cx="5120640" cy="32278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0" y="1298448"/>
            <a:ext cx="2743200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crítica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Ganhos variam por método e contexto.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Metodologias e baselines diferentes — não são somáveis.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Muitos vêm de simulação ou casos específicos.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Combinados na pilha, multiplicam-se...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...mas Jevons pode anular o ganho líquido.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462686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Economias reportadas por técnica (valores representativos; metodologias distintas).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8</a:t>
            </a:r>
            <a:endParaRPr lang="en-US" sz="75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DA MITIGAÇÃO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paradoxo de Jevons: o limite da eficiência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Tornar a IA mais eficiente pode aumentar — não reduzir — o consumo total.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484632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mecanismo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↓ custo por tarefa ↓ preço ↑ demanda ↑ consumo total.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foi ~2,8× mais eficiente que GPT-3 em 18 meses — e o uso explodiu.</a:t>
            </a:r>
            <a:endParaRPr lang="en-US" sz="1400" dirty="0"/>
          </a:p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Implicações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é necessária, mas não suficiente para reduzir o impacto absoluto.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preciso também descarbonizar a OFERTA e flexibilizar a carga.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certa: não só 'mais eficiente?', mas 'qual o consumo total e como descarbonizá-lo?'.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23560" y="1298448"/>
            <a:ext cx="3063240" cy="3364992"/>
          </a:xfrm>
          <a:prstGeom prst="roundRect">
            <a:avLst>
              <a:gd name="adj" fmla="val 1791"/>
            </a:avLst>
          </a:prstGeom>
          <a:solidFill>
            <a:srgbClr val="0B1F2A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788152" y="1444752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Jevons na IA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788152" y="1901952"/>
            <a:ext cx="2734056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sobe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por consulta cai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explode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usuários, respostas, agentes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total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subir mesmo assim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8</a:t>
            </a:r>
            <a:endParaRPr lang="en-US" sz="75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9F8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103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685800" y="2194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2514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Futuro da IA e da energia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8046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e a incerteza da demanda futura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como ferramenta de otimização energética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centers flexíveis e integração com renováveis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 de energia e a co-evolução IA–rede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Cenários de longo prazo: o que vigiar</a:t>
            </a:r>
            <a:endParaRPr lang="en-US" sz="1150" dirty="0"/>
          </a:p>
        </p:txBody>
      </p:sp>
      <p:sp>
        <p:nvSpPr>
          <p:cNvPr id="9072" name="pgnum72"/>
          <p:cNvSpPr/>
          <p:nvPr/>
        </p:nvSpPr>
        <p:spPr>
          <a:xfrm>
            <a:off x="8366760" y="4873752"/>
            <a:ext cx="320040" cy="2000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r"/>
            <a:r>
              <a:rPr lang="pt-BR" sz="850">
                <a:solidFill>
                  <a:srgbClr val="CADCFC"/>
                </a:solidFill>
                <a:latin typeface="Calibri"/>
              </a:rPr>
              <a:t>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E DEMANDA FUTURA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AGI e o crescimento futuro da demanda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busca por IA mais geral continuar, a escala de computação — e energia — pode crescer ordens de magnitude.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773936"/>
            <a:ext cx="4005072" cy="1266444"/>
          </a:xfrm>
          <a:prstGeom prst="roundRect">
            <a:avLst>
              <a:gd name="adj" fmla="val 433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30352" y="1865376"/>
            <a:ext cx="3858768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GW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48640" y="2470480"/>
            <a:ext cx="3822192" cy="531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potência de um único treino em 2030 (RAND) — 8 reatores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81728" y="1773936"/>
            <a:ext cx="4005072" cy="1266444"/>
          </a:xfrm>
          <a:prstGeom prst="roundRect">
            <a:avLst>
              <a:gd name="adj" fmla="val 433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754880" y="1865376"/>
            <a:ext cx="3858768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327 GW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4773168" y="2470480"/>
            <a:ext cx="3822192" cy="531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global de IA em 2030, cenário alto (RAND)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259836"/>
            <a:ext cx="4005072" cy="1266444"/>
          </a:xfrm>
          <a:prstGeom prst="roundRect">
            <a:avLst>
              <a:gd name="adj" fmla="val 433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30352" y="3351276"/>
            <a:ext cx="3858768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milhão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548640" y="3956380"/>
            <a:ext cx="3822192" cy="531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GPUs por cluster projetado até 2026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81728" y="3259836"/>
            <a:ext cx="4005072" cy="1266444"/>
          </a:xfrm>
          <a:prstGeom prst="roundRect">
            <a:avLst>
              <a:gd name="adj" fmla="val 433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754880" y="3351276"/>
            <a:ext cx="3858768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700–1.700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4773168" y="3956380"/>
            <a:ext cx="3822192" cy="531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TWh: faixa de demanda de DC em 2035 (IEA)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trajetória rumo à AGI é a maior fonte de incerteza: pode acelerar a demanda ou estabilizá-la se a escala saturar.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9</a:t>
            </a:r>
            <a:endParaRPr lang="en-US" sz="75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OTIMIZA A ENERGIA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 como ferramenta de otimização energética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tecnologia que demanda energia pode tornar todo o sistema energético mais eficiente.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484632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na rede (IEA)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de falhas reduz duração de quedas em 30–50%.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175 GW de capacidade de transmissão 'destravados' sem novas linhas.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de carga e geração renovável (ex.: Random Forest, LSTM).</a:t>
            </a:r>
            <a:endParaRPr lang="en-US" sz="1400" dirty="0"/>
          </a:p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toda a economia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industrial, transporte e edificações: grande potencial de economia.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poderia evitar emissões ≈ 5% das do setor de energia em 2035.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23560" y="1298448"/>
            <a:ext cx="3063240" cy="1011936"/>
          </a:xfrm>
          <a:prstGeom prst="roundRect">
            <a:avLst>
              <a:gd name="adj" fmla="val 542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696712" y="1389888"/>
            <a:ext cx="2916936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30–50%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715000" y="1855013"/>
            <a:ext cx="2880360" cy="425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na duração de quedas (IA)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23560" y="2474976"/>
            <a:ext cx="3063240" cy="1011936"/>
          </a:xfrm>
          <a:prstGeom prst="roundRect">
            <a:avLst>
              <a:gd name="adj" fmla="val 542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696712" y="2566416"/>
            <a:ext cx="2916936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175 GW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5715000" y="3031541"/>
            <a:ext cx="2880360" cy="425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transmissão destravada sem novas linhas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23560" y="3651504"/>
            <a:ext cx="3063240" cy="1011936"/>
          </a:xfrm>
          <a:prstGeom prst="roundRect">
            <a:avLst>
              <a:gd name="adj" fmla="val 5422"/>
            </a:avLst>
          </a:prstGeom>
          <a:solidFill>
            <a:srgbClr val="F6F9F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696712" y="3742944"/>
            <a:ext cx="2916936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~5%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5715000" y="4208069"/>
            <a:ext cx="2880360" cy="425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emissões evitáveis na economia (2035)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9</a:t>
            </a:r>
            <a:endParaRPr lang="en-US" sz="75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E822E4-6E90-D9AD-53F2-6AEA2145F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15">
            <a:extLst>
              <a:ext uri="{FF2B5EF4-FFF2-40B4-BE49-F238E27FC236}">
                <a16:creationId xmlns:a16="http://schemas.microsoft.com/office/drawing/2014/main" id="{8897C518-3BC3-1008-CDD6-78AEFB1DCB18}"/>
              </a:ext>
            </a:extLst>
          </p:cNvPr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8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485D9F3-DCA5-64F4-7912-52A2BFD4F38E}"/>
              </a:ext>
            </a:extLst>
          </p:cNvPr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9</a:t>
            </a:r>
            <a:endParaRPr lang="en-US" sz="750" dirty="0"/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851D7D6B-27BE-10FD-D875-2CE324A30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9012"/>
            <a:ext cx="5445044" cy="4262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28974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FC2775-3033-C6A0-93C9-532E03E0F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15">
            <a:extLst>
              <a:ext uri="{FF2B5EF4-FFF2-40B4-BE49-F238E27FC236}">
                <a16:creationId xmlns:a16="http://schemas.microsoft.com/office/drawing/2014/main" id="{E883EFAC-37FA-1B59-3E70-C168FF1A4C11}"/>
              </a:ext>
            </a:extLst>
          </p:cNvPr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8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75CE03F-58CC-2A45-FEF3-54BDEC9760F3}"/>
              </a:ext>
            </a:extLst>
          </p:cNvPr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9</a:t>
            </a:r>
            <a:endParaRPr lang="en-US" sz="75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8F5E370-404B-A233-E13E-8559D67E6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47" y="384682"/>
            <a:ext cx="7809653" cy="218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85612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CENTERS FLEXÍVEIS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centers flexíveis, renováveis e armazenamento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futuro: o data center deixa de ser carga passiva e vira ativo ativo da rede.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484632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prosumer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centers com geração própria, armazenamento e flexibilidade de carga.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Participam de resposta da demanda e serviços de rede (regulação de frequência).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Recuperação de calor integrada a sistemas de energia distrital.</a:t>
            </a:r>
            <a:endParaRPr lang="en-US" sz="1400" dirty="0"/>
          </a:p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Paralelo com os VEs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os veículos elétricos (V2G), grandes cargas flexíveis podem estabilizar a rede.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 (HESS) é o elo que viabiliza essa flexibilidade.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23560" y="1298448"/>
            <a:ext cx="3063240" cy="3364992"/>
          </a:xfrm>
          <a:prstGeom prst="roundRect">
            <a:avLst>
              <a:gd name="adj" fmla="val 1791"/>
            </a:avLst>
          </a:prstGeom>
          <a:solidFill>
            <a:srgbClr val="0B1F2A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788152" y="1444752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→ ativo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788152" y="1901952"/>
            <a:ext cx="2734056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renovável on-site + PPA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baterias/HESS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Flexibiliza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e serviços de rede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Aproveita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 residual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9</a:t>
            </a:r>
            <a:endParaRPr lang="en-US" sz="75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CENÁRIOS DE LONGO PRAZO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Cenários de demanda: o leque de futuros possíveis</a:t>
            </a:r>
            <a:endParaRPr lang="en-US" sz="2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298448"/>
          <a:ext cx="51206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096512"/>
            <a:ext cx="5120640" cy="585216"/>
          </a:xfrm>
          <a:prstGeom prst="roundRect">
            <a:avLst>
              <a:gd name="adj" fmla="val 781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566928" y="4114800"/>
            <a:ext cx="4901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Leitura: </a:t>
            </a: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2035 a demanda pode variar de 700 a 1.700 TWh — a incerteza é a mensagem.</a:t>
            </a:r>
            <a:endParaRPr lang="en-US" sz="930" dirty="0"/>
          </a:p>
        </p:txBody>
      </p:sp>
      <p:sp>
        <p:nvSpPr>
          <p:cNvPr id="8" name="Text 5"/>
          <p:cNvSpPr/>
          <p:nvPr/>
        </p:nvSpPr>
        <p:spPr>
          <a:xfrm>
            <a:off x="5943600" y="1298448"/>
            <a:ext cx="27432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vigiar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Ritmo de eficiência (MoE, FP8, hardware).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Saturação ou não das leis de escala.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Gargalos de rede e de chips.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Descarbonização da oferta.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9</a:t>
            </a:r>
            <a:endParaRPr lang="en-US" sz="75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9F8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103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685800" y="2194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2514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Conclusões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8046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aprendizados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técnicos e energéticos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 de pesquisa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 finais</a:t>
            </a:r>
            <a:endParaRPr lang="en-US" sz="1150" dirty="0"/>
          </a:p>
        </p:txBody>
      </p:sp>
      <p:sp>
        <p:nvSpPr>
          <p:cNvPr id="9079" name="pgnum79"/>
          <p:cNvSpPr/>
          <p:nvPr/>
        </p:nvSpPr>
        <p:spPr>
          <a:xfrm>
            <a:off x="8366760" y="4873752"/>
            <a:ext cx="320040" cy="2000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r"/>
            <a:r>
              <a:rPr lang="pt-BR" sz="850">
                <a:solidFill>
                  <a:srgbClr val="CADCFC"/>
                </a:solidFill>
                <a:latin typeface="Calibri"/>
              </a:rPr>
              <a:t>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Principais aprendizados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consumo energético da IA é um problema de sistemas — atravessa computação, infraestrutura e rede.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822960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impulsiona consumo: computação de fronteira cresce 4–5×/ano; energia segue.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inferência domina (80–90%), não o treino — onde otimizar importa.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centers: 1,5% da eletricidade global (2024) rumo a ~3% (2030); IA é o motor.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impacto não é só energia: é rede (GW concentrados), carbono, água e materiais.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matriz elétrica e a localização definem a pegada tanto quanto a eficiência.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é necessária, mas Jevons exige descarbonizar a oferta e flexibilizar a carga.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10</a:t>
            </a:r>
            <a:endParaRPr lang="en-US" sz="75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Desafios técnicos e energéticos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3931920" cy="384048"/>
          </a:xfrm>
          <a:prstGeom prst="roundRect">
            <a:avLst>
              <a:gd name="adj" fmla="val 11905"/>
            </a:avLst>
          </a:prstGeom>
          <a:solidFill>
            <a:srgbClr val="0B1F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66928" y="1298448"/>
            <a:ext cx="3712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1792224"/>
            <a:ext cx="3931920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e reportar consumo com transparência e escopo claro.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Estabilidade da rede com cargas grandes, pulsantes e síncronas.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de energia (harmônicos, tensão) em alta densidade.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Refrigerar racks de 50–150 kW de forma eficiente.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Desacoplar capacidade de energia (MoE, quantização, hardware).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298448"/>
            <a:ext cx="3931920" cy="384048"/>
          </a:xfrm>
          <a:prstGeom prst="roundRect">
            <a:avLst>
              <a:gd name="adj" fmla="val 11905"/>
            </a:avLst>
          </a:prstGeom>
          <a:solidFill>
            <a:srgbClr val="0B1F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864608" y="1298448"/>
            <a:ext cx="3712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Energéticos e sistêmicos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754880" y="1792224"/>
            <a:ext cx="3931920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 de rede (anos) vs. data centers (meses).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 firme e limpa 24/7 (nuclear, armazenamento).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Affordability: quem paga a nova infraestrutura.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Água e materiais em regiões sob estresse.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Regulação que acompanhe o ritmo da demanda.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10</a:t>
            </a:r>
            <a:endParaRPr lang="en-US" sz="75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8028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Oportunidades de pesquisa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um cientista de dados ou engenheiro pode contribuir.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484632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e medição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abertos e reprodutíveis de consumo (treino e inferência) por arquitetura.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de carga de data centers e de geração renovável com ML.</a:t>
            </a:r>
            <a:endParaRPr lang="en-US" sz="1400" dirty="0"/>
          </a:p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e sistemas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Compressão e MoE com garantias de qualidade; co-design hardware-modelo.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Escalonamento sensível a carbono/energia; data centers como recursos flexíveis.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Estabilidade de redes com alta penetração de cargas de IA e baixa inércia.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23560" y="1298448"/>
            <a:ext cx="3063240" cy="3364992"/>
          </a:xfrm>
          <a:prstGeom prst="roundRect">
            <a:avLst>
              <a:gd name="adj" fmla="val 1791"/>
            </a:avLst>
          </a:prstGeom>
          <a:solidFill>
            <a:srgbClr val="0B1F2A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788152" y="1444752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promissoras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788152" y="1901952"/>
            <a:ext cx="2734056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Medição aberta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de energia por tarefa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Carbon-aware ML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escalonar por carbono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Co-design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+ hardware + DC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+ IA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estabilidade e flexibilidade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903720" y="4873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10</a:t>
            </a:r>
            <a:endParaRPr lang="en-US" sz="75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 FINAIS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Mensagens finais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é, hoje, também um problema de energia e de sistemas elétricos.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 em faixas e cenários, não em números pontuais: a incerteza é estrutural.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inferência em escala — não o treino — domina o consumo operacional.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 quando a IA roda importa tanto quanto quão eficiente ela é.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+ descarbonização da oferta + flexibilidade da carga = caminho sustentável.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cientistas de dados, otimizar acurácia E energia é parte do nosso ofício.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</a:t>
            </a:r>
            <a:endParaRPr lang="en-US" sz="85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A47EC6-97A5-87FB-6746-087343F81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F70DB1E-7953-7488-3A67-C2AC636719C6}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09AD8E1-C948-4B4A-A7CB-57ECC4E5F7CE}"/>
              </a:ext>
            </a:extLst>
          </p:cNvPr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 FINAIS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25C23ED-A98C-7C22-A198-C0805E81D2BC}"/>
              </a:ext>
            </a:extLst>
          </p:cNvPr>
          <p:cNvSpPr/>
          <p:nvPr/>
        </p:nvSpPr>
        <p:spPr>
          <a:xfrm>
            <a:off x="457200" y="74980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Mensagens finais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A3517C5-6D9D-C5D3-BC6B-84E8699DEEFE}"/>
              </a:ext>
            </a:extLst>
          </p:cNvPr>
          <p:cNvSpPr/>
          <p:nvPr/>
        </p:nvSpPr>
        <p:spPr>
          <a:xfrm>
            <a:off x="457200" y="155448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https://www.youtube.com/watch?v=cNI4N3-FcEI</a:t>
            </a:r>
            <a:endParaRPr lang="en-US" sz="1400" b="1" dirty="0">
              <a:solidFill>
                <a:srgbClr val="5EEAD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hlinkClick r:id="rId4"/>
              </a:rPr>
              <a:t>https://www.youtube.com/watch?v=xXEcrIfhPJo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hlinkClick r:id="rId5"/>
              </a:rPr>
              <a:t>https://www.youtube.com/shorts/E41X5s_BpgM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>
                <a:hlinkClick r:id="rId6"/>
              </a:rPr>
              <a:t>https://www.youtube.com/shorts/sHEyyL9mx4M</a:t>
            </a:r>
            <a:endParaRPr lang="en-US" sz="140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endParaRPr lang="en-US"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F71D528-D0FB-2F79-5110-CC5C781259FC}"/>
              </a:ext>
            </a:extLst>
          </p:cNvPr>
          <p:cNvSpPr/>
          <p:nvPr/>
        </p:nvSpPr>
        <p:spPr>
          <a:xfrm>
            <a:off x="8366760" y="48737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1947352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692</TotalTime>
  <Words>20818</Words>
  <Application>Microsoft Office PowerPoint</Application>
  <PresentationFormat>Apresentação na tela (16:9)</PresentationFormat>
  <Paragraphs>1322</Paragraphs>
  <Slides>99</Slides>
  <Notes>99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99</vt:i4>
      </vt:variant>
    </vt:vector>
  </HeadingPairs>
  <TitlesOfParts>
    <vt:vector size="108" baseType="lpstr">
      <vt:lpstr>Arial</vt:lpstr>
      <vt:lpstr>Calibri</vt:lpstr>
      <vt:lpstr>Cambria Math</vt:lpstr>
      <vt:lpstr>Georgia</vt:lpstr>
      <vt:lpstr>Inter</vt:lpstr>
      <vt:lpstr>Inter ExtraBold</vt:lpstr>
      <vt:lpstr>Inter SemiBold</vt:lpstr>
      <vt:lpstr>Urbanist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Aula de pós-graduação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 Impacto da IA no Consumo de Energia</dc:title>
  <dc:subject>PptxGenJS Presentation</dc:subject>
  <dc:creator>Material didático — Ciência de Dados</dc:creator>
  <cp:lastModifiedBy>Giovani Giulio</cp:lastModifiedBy>
  <cp:revision>5</cp:revision>
  <cp:lastPrinted>2026-06-18T00:33:02Z</cp:lastPrinted>
  <dcterms:created xsi:type="dcterms:W3CDTF">2026-06-16T03:05:14Z</dcterms:created>
  <dcterms:modified xsi:type="dcterms:W3CDTF">2026-06-18T09:36:07Z</dcterms:modified>
</cp:coreProperties>
</file>